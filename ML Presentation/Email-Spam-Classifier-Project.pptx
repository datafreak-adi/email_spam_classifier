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4630400" cy="8229600"/>
  <p:notesSz cx="8229600" cy="14630400"/>
  <p:embeddedFontLst>
    <p:embeddedFont>
      <p:font typeface="Open Sans" panose="020B0606030504020204" pitchFamily="34" charset="0"/>
      <p:regular r:id="rId11"/>
      <p:bold r:id="rId12"/>
    </p:embeddedFont>
    <p:embeddedFont>
      <p:font typeface="Open Sans Bold" panose="020B0806030504020204" pitchFamily="34" charset="0"/>
      <p:bold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3.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563267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7" Type="http://schemas.openxmlformats.org/officeDocument/2006/relationships/image" Target="../media/image25.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149310"/>
            <a:ext cx="7556421" cy="1417558"/>
          </a:xfrm>
          <a:prstGeom prst="rect">
            <a:avLst/>
          </a:prstGeom>
          <a:noFill/>
          <a:ln/>
        </p:spPr>
        <p:txBody>
          <a:bodyPr wrap="square" lIns="0" tIns="0" rIns="0" bIns="0" rtlCol="0" anchor="t"/>
          <a:lstStyle/>
          <a:p>
            <a:pPr marL="0" indent="0" algn="l">
              <a:lnSpc>
                <a:spcPts val="5550"/>
              </a:lnSpc>
              <a:buNone/>
            </a:pPr>
            <a:r>
              <a:rPr lang="en-US" sz="4450" b="1" dirty="0">
                <a:solidFill>
                  <a:srgbClr val="403C4E"/>
                </a:solidFill>
                <a:latin typeface="Merriweather Bold" pitchFamily="34" charset="0"/>
                <a:ea typeface="Merriweather Bold" pitchFamily="34" charset="-122"/>
                <a:cs typeface="Merriweather Bold" pitchFamily="34" charset="-120"/>
              </a:rPr>
              <a:t>Email Spam Classifier Project Report</a:t>
            </a:r>
            <a:endParaRPr lang="en-US" sz="4450" dirty="0"/>
          </a:p>
        </p:txBody>
      </p:sp>
      <p:sp>
        <p:nvSpPr>
          <p:cNvPr id="4" name="Text 1"/>
          <p:cNvSpPr/>
          <p:nvPr/>
        </p:nvSpPr>
        <p:spPr>
          <a:xfrm>
            <a:off x="793790" y="2907030"/>
            <a:ext cx="7556421" cy="1814513"/>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With the ever-increasing digital communication, spam emails have become a significant concern, leading to security threats, phishing attacks, and loss of productivity. This project implements an intelligent and automated solution using Machine Learning techniques to classify emails as 'Spam' or 'Not Spam'.</a:t>
            </a:r>
            <a:endParaRPr lang="en-US" sz="1750" dirty="0"/>
          </a:p>
        </p:txBody>
      </p:sp>
      <p:sp>
        <p:nvSpPr>
          <p:cNvPr id="5" name="Text 2"/>
          <p:cNvSpPr/>
          <p:nvPr/>
        </p:nvSpPr>
        <p:spPr>
          <a:xfrm>
            <a:off x="793790" y="4976693"/>
            <a:ext cx="7556421" cy="1451610"/>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The system provides an efficient and user-friendly environment where any user can paste an email and instantly get a classification result. The interface is designed using Streamlit to make the tool accessible and interactive.</a:t>
            </a:r>
            <a:endParaRPr lang="en-US" sz="1750" dirty="0"/>
          </a:p>
        </p:txBody>
      </p:sp>
      <p:sp>
        <p:nvSpPr>
          <p:cNvPr id="6" name="Shape 3"/>
          <p:cNvSpPr/>
          <p:nvPr/>
        </p:nvSpPr>
        <p:spPr>
          <a:xfrm>
            <a:off x="793790" y="6700361"/>
            <a:ext cx="362903" cy="362903"/>
          </a:xfrm>
          <a:prstGeom prst="roundRect">
            <a:avLst>
              <a:gd name="adj" fmla="val 25194296"/>
            </a:avLst>
          </a:prstGeom>
          <a:solidFill>
            <a:srgbClr val="A16A8B"/>
          </a:solidFill>
          <a:ln w="7620">
            <a:solidFill>
              <a:srgbClr val="FFFFFF"/>
            </a:solidFill>
            <a:prstDash val="solid"/>
          </a:ln>
        </p:spPr>
        <p:txBody>
          <a:bodyPr/>
          <a:lstStyle/>
          <a:p>
            <a:endParaRPr lang="en-US"/>
          </a:p>
        </p:txBody>
      </p:sp>
      <p:sp>
        <p:nvSpPr>
          <p:cNvPr id="7" name="Text 4"/>
          <p:cNvSpPr/>
          <p:nvPr/>
        </p:nvSpPr>
        <p:spPr>
          <a:xfrm>
            <a:off x="912138" y="6832997"/>
            <a:ext cx="126206" cy="97512"/>
          </a:xfrm>
          <a:prstGeom prst="rect">
            <a:avLst/>
          </a:prstGeom>
          <a:noFill/>
          <a:ln/>
        </p:spPr>
        <p:txBody>
          <a:bodyPr wrap="none" lIns="0" tIns="0" rIns="0" bIns="0" rtlCol="0" anchor="t"/>
          <a:lstStyle/>
          <a:p>
            <a:pPr marL="0" indent="0" algn="ctr">
              <a:lnSpc>
                <a:spcPts val="750"/>
              </a:lnSpc>
              <a:buNone/>
            </a:pPr>
            <a:r>
              <a:rPr lang="en-US" sz="750" dirty="0">
                <a:solidFill>
                  <a:srgbClr val="FFFFFF"/>
                </a:solidFill>
                <a:latin typeface="Open Sans Medium" pitchFamily="34" charset="0"/>
                <a:ea typeface="Open Sans Medium" pitchFamily="34" charset="-122"/>
                <a:cs typeface="Open Sans Medium" pitchFamily="34" charset="-120"/>
              </a:rPr>
              <a:t>AA</a:t>
            </a:r>
            <a:endParaRPr lang="en-US" sz="750" dirty="0"/>
          </a:p>
        </p:txBody>
      </p:sp>
      <p:sp>
        <p:nvSpPr>
          <p:cNvPr id="8" name="Text 5"/>
          <p:cNvSpPr/>
          <p:nvPr/>
        </p:nvSpPr>
        <p:spPr>
          <a:xfrm>
            <a:off x="1270040" y="6683454"/>
            <a:ext cx="2560082" cy="396835"/>
          </a:xfrm>
          <a:prstGeom prst="rect">
            <a:avLst/>
          </a:prstGeom>
          <a:noFill/>
          <a:ln/>
        </p:spPr>
        <p:txBody>
          <a:bodyPr wrap="none" lIns="0" tIns="0" rIns="0" bIns="0" rtlCol="0" anchor="t"/>
          <a:lstStyle/>
          <a:p>
            <a:pPr marL="0" indent="0" algn="l">
              <a:lnSpc>
                <a:spcPts val="3100"/>
              </a:lnSpc>
              <a:buNone/>
            </a:pPr>
            <a:r>
              <a:rPr lang="en-US" sz="2200" b="1" dirty="0">
                <a:solidFill>
                  <a:srgbClr val="403C4E"/>
                </a:solidFill>
                <a:latin typeface="Open Sans Bold" pitchFamily="34" charset="0"/>
                <a:ea typeface="Open Sans Bold" pitchFamily="34" charset="-122"/>
                <a:cs typeface="Open Sans Bold" pitchFamily="34" charset="-120"/>
              </a:rPr>
              <a:t>by Aditya Agarwal</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74502" y="785932"/>
            <a:ext cx="5532358" cy="691515"/>
          </a:xfrm>
          <a:prstGeom prst="rect">
            <a:avLst/>
          </a:prstGeom>
          <a:noFill/>
          <a:ln/>
        </p:spPr>
        <p:txBody>
          <a:bodyPr wrap="none" lIns="0" tIns="0" rIns="0" bIns="0" rtlCol="0" anchor="t"/>
          <a:lstStyle/>
          <a:p>
            <a:pPr marL="0" indent="0" algn="l">
              <a:lnSpc>
                <a:spcPts val="5400"/>
              </a:lnSpc>
              <a:buNone/>
            </a:pPr>
            <a:r>
              <a:rPr lang="en-US" sz="4350" b="1" dirty="0">
                <a:solidFill>
                  <a:srgbClr val="403C4E"/>
                </a:solidFill>
                <a:latin typeface="Merriweather Bold" pitchFamily="34" charset="0"/>
                <a:ea typeface="Merriweather Bold" pitchFamily="34" charset="-122"/>
                <a:cs typeface="Merriweather Bold" pitchFamily="34" charset="-120"/>
              </a:rPr>
              <a:t>Technologies Used</a:t>
            </a:r>
            <a:endParaRPr lang="en-US" sz="4350" dirty="0"/>
          </a:p>
        </p:txBody>
      </p:sp>
      <p:sp>
        <p:nvSpPr>
          <p:cNvPr id="4" name="Shape 1"/>
          <p:cNvSpPr/>
          <p:nvPr/>
        </p:nvSpPr>
        <p:spPr>
          <a:xfrm>
            <a:off x="774502" y="1809274"/>
            <a:ext cx="3686889" cy="3414713"/>
          </a:xfrm>
          <a:prstGeom prst="roundRect">
            <a:avLst>
              <a:gd name="adj" fmla="val 2722"/>
            </a:avLst>
          </a:prstGeom>
          <a:solidFill>
            <a:srgbClr val="FFD8CC"/>
          </a:solidFill>
          <a:ln w="7620">
            <a:solidFill>
              <a:srgbClr val="E5BEB2"/>
            </a:solidFill>
            <a:prstDash val="solid"/>
          </a:ln>
        </p:spPr>
        <p:txBody>
          <a:bodyPr/>
          <a:lstStyle/>
          <a:p>
            <a:endParaRPr lang="en-US"/>
          </a:p>
        </p:txBody>
      </p:sp>
      <p:sp>
        <p:nvSpPr>
          <p:cNvPr id="5" name="Text 2"/>
          <p:cNvSpPr/>
          <p:nvPr/>
        </p:nvSpPr>
        <p:spPr>
          <a:xfrm>
            <a:off x="1003340" y="2038112"/>
            <a:ext cx="2766179" cy="345638"/>
          </a:xfrm>
          <a:prstGeom prst="rect">
            <a:avLst/>
          </a:prstGeom>
          <a:noFill/>
          <a:ln/>
        </p:spPr>
        <p:txBody>
          <a:bodyPr wrap="none" lIns="0" tIns="0" rIns="0" bIns="0" rtlCol="0" anchor="t"/>
          <a:lstStyle/>
          <a:p>
            <a:pPr marL="0" indent="0" algn="l">
              <a:lnSpc>
                <a:spcPts val="2700"/>
              </a:lnSpc>
              <a:buNone/>
            </a:pPr>
            <a:r>
              <a:rPr lang="en-US" sz="2150" b="1" dirty="0">
                <a:solidFill>
                  <a:srgbClr val="403C4E"/>
                </a:solidFill>
                <a:latin typeface="Merriweather Bold" pitchFamily="34" charset="0"/>
                <a:ea typeface="Merriweather Bold" pitchFamily="34" charset="-122"/>
                <a:cs typeface="Merriweather Bold" pitchFamily="34" charset="-120"/>
              </a:rPr>
              <a:t>Core Technologies</a:t>
            </a:r>
            <a:endParaRPr lang="en-US" sz="2150" dirty="0"/>
          </a:p>
        </p:txBody>
      </p:sp>
      <p:sp>
        <p:nvSpPr>
          <p:cNvPr id="6" name="Text 3"/>
          <p:cNvSpPr/>
          <p:nvPr/>
        </p:nvSpPr>
        <p:spPr>
          <a:xfrm>
            <a:off x="1003340" y="2516505"/>
            <a:ext cx="3229213" cy="2478643"/>
          </a:xfrm>
          <a:prstGeom prst="rect">
            <a:avLst/>
          </a:prstGeom>
          <a:noFill/>
          <a:ln/>
        </p:spPr>
        <p:txBody>
          <a:bodyPr wrap="square" lIns="0" tIns="0" rIns="0" bIns="0" rtlCol="0" anchor="t"/>
          <a:lstStyle/>
          <a:p>
            <a:pPr marL="0" indent="0" algn="l">
              <a:lnSpc>
                <a:spcPts val="2750"/>
              </a:lnSpc>
              <a:buNone/>
            </a:pPr>
            <a:r>
              <a:rPr lang="en-US" sz="1700" dirty="0">
                <a:solidFill>
                  <a:srgbClr val="403C4E"/>
                </a:solidFill>
                <a:latin typeface="Open Sans" pitchFamily="34" charset="0"/>
                <a:ea typeface="Open Sans" pitchFamily="34" charset="-122"/>
                <a:cs typeface="Open Sans" pitchFamily="34" charset="-120"/>
              </a:rPr>
              <a:t>Python serves as the core programming language for logic, ML training, and backend integration. Streamlit provides a lightweight framework for building fast and interactive web applications.</a:t>
            </a:r>
            <a:endParaRPr lang="en-US" sz="1700" dirty="0"/>
          </a:p>
        </p:txBody>
      </p:sp>
      <p:sp>
        <p:nvSpPr>
          <p:cNvPr id="7" name="Shape 4"/>
          <p:cNvSpPr/>
          <p:nvPr/>
        </p:nvSpPr>
        <p:spPr>
          <a:xfrm>
            <a:off x="4682609" y="1809274"/>
            <a:ext cx="3686889" cy="3414713"/>
          </a:xfrm>
          <a:prstGeom prst="roundRect">
            <a:avLst>
              <a:gd name="adj" fmla="val 2722"/>
            </a:avLst>
          </a:prstGeom>
          <a:solidFill>
            <a:srgbClr val="FFD8CC"/>
          </a:solidFill>
          <a:ln w="7620">
            <a:solidFill>
              <a:srgbClr val="E5BEB2"/>
            </a:solidFill>
            <a:prstDash val="solid"/>
          </a:ln>
        </p:spPr>
        <p:txBody>
          <a:bodyPr/>
          <a:lstStyle/>
          <a:p>
            <a:endParaRPr lang="en-US"/>
          </a:p>
        </p:txBody>
      </p:sp>
      <p:sp>
        <p:nvSpPr>
          <p:cNvPr id="8" name="Text 5"/>
          <p:cNvSpPr/>
          <p:nvPr/>
        </p:nvSpPr>
        <p:spPr>
          <a:xfrm>
            <a:off x="4911447" y="2038112"/>
            <a:ext cx="2766179" cy="345638"/>
          </a:xfrm>
          <a:prstGeom prst="rect">
            <a:avLst/>
          </a:prstGeom>
          <a:noFill/>
          <a:ln/>
        </p:spPr>
        <p:txBody>
          <a:bodyPr wrap="none" lIns="0" tIns="0" rIns="0" bIns="0" rtlCol="0" anchor="t"/>
          <a:lstStyle/>
          <a:p>
            <a:pPr marL="0" indent="0" algn="l">
              <a:lnSpc>
                <a:spcPts val="2700"/>
              </a:lnSpc>
              <a:buNone/>
            </a:pPr>
            <a:r>
              <a:rPr lang="en-US" sz="2150" b="1" dirty="0">
                <a:solidFill>
                  <a:srgbClr val="403C4E"/>
                </a:solidFill>
                <a:latin typeface="Merriweather Bold" pitchFamily="34" charset="0"/>
                <a:ea typeface="Merriweather Bold" pitchFamily="34" charset="-122"/>
                <a:cs typeface="Merriweather Bold" pitchFamily="34" charset="-120"/>
              </a:rPr>
              <a:t>NLP Tools</a:t>
            </a:r>
            <a:endParaRPr lang="en-US" sz="2150" dirty="0"/>
          </a:p>
        </p:txBody>
      </p:sp>
      <p:sp>
        <p:nvSpPr>
          <p:cNvPr id="9" name="Text 6"/>
          <p:cNvSpPr/>
          <p:nvPr/>
        </p:nvSpPr>
        <p:spPr>
          <a:xfrm>
            <a:off x="4911447" y="2516505"/>
            <a:ext cx="3229213" cy="2478643"/>
          </a:xfrm>
          <a:prstGeom prst="rect">
            <a:avLst/>
          </a:prstGeom>
          <a:noFill/>
          <a:ln/>
        </p:spPr>
        <p:txBody>
          <a:bodyPr wrap="square" lIns="0" tIns="0" rIns="0" bIns="0" rtlCol="0" anchor="t"/>
          <a:lstStyle/>
          <a:p>
            <a:pPr marL="0" indent="0" algn="l">
              <a:lnSpc>
                <a:spcPts val="2750"/>
              </a:lnSpc>
              <a:buNone/>
            </a:pPr>
            <a:r>
              <a:rPr lang="en-US" sz="1700" dirty="0">
                <a:solidFill>
                  <a:srgbClr val="403C4E"/>
                </a:solidFill>
                <a:latin typeface="Open Sans" pitchFamily="34" charset="0"/>
                <a:ea typeface="Open Sans" pitchFamily="34" charset="-122"/>
                <a:cs typeface="Open Sans" pitchFamily="34" charset="-120"/>
              </a:rPr>
              <a:t>NLTK (Natural Language Toolkit) is used for tokenization, stopword removal, and stemming, providing robust NLP tools essential for text preprocessing.</a:t>
            </a:r>
            <a:endParaRPr lang="en-US" sz="1700" dirty="0"/>
          </a:p>
        </p:txBody>
      </p:sp>
      <p:sp>
        <p:nvSpPr>
          <p:cNvPr id="10" name="Shape 7"/>
          <p:cNvSpPr/>
          <p:nvPr/>
        </p:nvSpPr>
        <p:spPr>
          <a:xfrm>
            <a:off x="774502" y="5445204"/>
            <a:ext cx="7594997" cy="1998345"/>
          </a:xfrm>
          <a:prstGeom prst="roundRect">
            <a:avLst>
              <a:gd name="adj" fmla="val 4651"/>
            </a:avLst>
          </a:prstGeom>
          <a:solidFill>
            <a:srgbClr val="FFD8CC"/>
          </a:solidFill>
          <a:ln w="7620">
            <a:solidFill>
              <a:srgbClr val="E5BEB2"/>
            </a:solidFill>
            <a:prstDash val="solid"/>
          </a:ln>
        </p:spPr>
        <p:txBody>
          <a:bodyPr/>
          <a:lstStyle/>
          <a:p>
            <a:endParaRPr lang="en-US"/>
          </a:p>
        </p:txBody>
      </p:sp>
      <p:sp>
        <p:nvSpPr>
          <p:cNvPr id="11" name="Text 8"/>
          <p:cNvSpPr/>
          <p:nvPr/>
        </p:nvSpPr>
        <p:spPr>
          <a:xfrm>
            <a:off x="1003340" y="5674042"/>
            <a:ext cx="2766179" cy="345638"/>
          </a:xfrm>
          <a:prstGeom prst="rect">
            <a:avLst/>
          </a:prstGeom>
          <a:noFill/>
          <a:ln/>
        </p:spPr>
        <p:txBody>
          <a:bodyPr wrap="none" lIns="0" tIns="0" rIns="0" bIns="0" rtlCol="0" anchor="t"/>
          <a:lstStyle/>
          <a:p>
            <a:pPr marL="0" indent="0" algn="l">
              <a:lnSpc>
                <a:spcPts val="2700"/>
              </a:lnSpc>
              <a:buNone/>
            </a:pPr>
            <a:r>
              <a:rPr lang="en-US" sz="2150" b="1" dirty="0">
                <a:solidFill>
                  <a:srgbClr val="403C4E"/>
                </a:solidFill>
                <a:latin typeface="Merriweather Bold" pitchFamily="34" charset="0"/>
                <a:ea typeface="Merriweather Bold" pitchFamily="34" charset="-122"/>
                <a:cs typeface="Merriweather Bold" pitchFamily="34" charset="-120"/>
              </a:rPr>
              <a:t>ML &amp; Development</a:t>
            </a:r>
            <a:endParaRPr lang="en-US" sz="2150" dirty="0"/>
          </a:p>
        </p:txBody>
      </p:sp>
      <p:sp>
        <p:nvSpPr>
          <p:cNvPr id="12" name="Text 9"/>
          <p:cNvSpPr/>
          <p:nvPr/>
        </p:nvSpPr>
        <p:spPr>
          <a:xfrm>
            <a:off x="1003340" y="6152436"/>
            <a:ext cx="7137321" cy="1062276"/>
          </a:xfrm>
          <a:prstGeom prst="rect">
            <a:avLst/>
          </a:prstGeom>
          <a:noFill/>
          <a:ln/>
        </p:spPr>
        <p:txBody>
          <a:bodyPr wrap="square" lIns="0" tIns="0" rIns="0" bIns="0" rtlCol="0" anchor="t"/>
          <a:lstStyle/>
          <a:p>
            <a:pPr marL="0" indent="0" algn="l">
              <a:lnSpc>
                <a:spcPts val="2750"/>
              </a:lnSpc>
              <a:buNone/>
            </a:pPr>
            <a:r>
              <a:rPr lang="en-US" sz="1700" dirty="0">
                <a:solidFill>
                  <a:srgbClr val="403C4E"/>
                </a:solidFill>
                <a:latin typeface="Open Sans" pitchFamily="34" charset="0"/>
                <a:ea typeface="Open Sans" pitchFamily="34" charset="-122"/>
                <a:cs typeface="Open Sans" pitchFamily="34" charset="-120"/>
              </a:rPr>
              <a:t>Scikit-learn enables model training, evaluation, and vectorization using TF-IDF. Jupyter Notebook facilitates code development, experimentation, and visualization.</a:t>
            </a:r>
            <a:endParaRPr lang="en-US" sz="1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60187" y="609481"/>
            <a:ext cx="7241143" cy="690801"/>
          </a:xfrm>
          <a:prstGeom prst="rect">
            <a:avLst/>
          </a:prstGeom>
          <a:noFill/>
          <a:ln/>
        </p:spPr>
        <p:txBody>
          <a:bodyPr wrap="none" lIns="0" tIns="0" rIns="0" bIns="0" rtlCol="0" anchor="t"/>
          <a:lstStyle/>
          <a:p>
            <a:pPr marL="0" indent="0" algn="l">
              <a:lnSpc>
                <a:spcPts val="5400"/>
              </a:lnSpc>
              <a:buNone/>
            </a:pPr>
            <a:r>
              <a:rPr lang="en-US" sz="4350" b="1" dirty="0">
                <a:solidFill>
                  <a:srgbClr val="403C4E"/>
                </a:solidFill>
                <a:latin typeface="Merriweather Bold" pitchFamily="34" charset="0"/>
                <a:ea typeface="Merriweather Bold" pitchFamily="34" charset="-122"/>
                <a:cs typeface="Merriweather Bold" pitchFamily="34" charset="-120"/>
              </a:rPr>
              <a:t>Text Preprocessing in NLP</a:t>
            </a:r>
            <a:endParaRPr lang="en-US" sz="4350" dirty="0"/>
          </a:p>
        </p:txBody>
      </p:sp>
      <p:sp>
        <p:nvSpPr>
          <p:cNvPr id="4" name="Shape 1"/>
          <p:cNvSpPr/>
          <p:nvPr/>
        </p:nvSpPr>
        <p:spPr>
          <a:xfrm>
            <a:off x="6260187" y="1631871"/>
            <a:ext cx="165735" cy="1892975"/>
          </a:xfrm>
          <a:prstGeom prst="roundRect">
            <a:avLst>
              <a:gd name="adj" fmla="val 56029"/>
            </a:avLst>
          </a:prstGeom>
          <a:solidFill>
            <a:srgbClr val="FFD8CC"/>
          </a:solidFill>
          <a:ln w="7620">
            <a:solidFill>
              <a:srgbClr val="E5BEB2"/>
            </a:solidFill>
            <a:prstDash val="solid"/>
          </a:ln>
        </p:spPr>
        <p:txBody>
          <a:bodyPr/>
          <a:lstStyle/>
          <a:p>
            <a:endParaRPr lang="en-US"/>
          </a:p>
        </p:txBody>
      </p:sp>
      <p:sp>
        <p:nvSpPr>
          <p:cNvPr id="5" name="Text 2"/>
          <p:cNvSpPr/>
          <p:nvPr/>
        </p:nvSpPr>
        <p:spPr>
          <a:xfrm>
            <a:off x="6757511" y="1631871"/>
            <a:ext cx="2799278" cy="345400"/>
          </a:xfrm>
          <a:prstGeom prst="rect">
            <a:avLst/>
          </a:prstGeom>
          <a:noFill/>
          <a:ln/>
        </p:spPr>
        <p:txBody>
          <a:bodyPr wrap="none" lIns="0" tIns="0" rIns="0" bIns="0" rtlCol="0" anchor="t"/>
          <a:lstStyle/>
          <a:p>
            <a:pPr marL="0" indent="0" algn="l">
              <a:lnSpc>
                <a:spcPts val="2700"/>
              </a:lnSpc>
              <a:buNone/>
            </a:pPr>
            <a:r>
              <a:rPr lang="en-US" sz="2150" b="1" dirty="0">
                <a:solidFill>
                  <a:srgbClr val="403C4E"/>
                </a:solidFill>
                <a:latin typeface="Merriweather Bold" pitchFamily="34" charset="0"/>
                <a:ea typeface="Merriweather Bold" pitchFamily="34" charset="-122"/>
                <a:cs typeface="Merriweather Bold" pitchFamily="34" charset="-120"/>
              </a:rPr>
              <a:t>Initial Text Cleaning</a:t>
            </a:r>
            <a:endParaRPr lang="en-US" sz="2150" dirty="0"/>
          </a:p>
        </p:txBody>
      </p:sp>
      <p:sp>
        <p:nvSpPr>
          <p:cNvPr id="6" name="Text 3"/>
          <p:cNvSpPr/>
          <p:nvPr/>
        </p:nvSpPr>
        <p:spPr>
          <a:xfrm>
            <a:off x="6757511" y="2109907"/>
            <a:ext cx="7099102" cy="1414939"/>
          </a:xfrm>
          <a:prstGeom prst="rect">
            <a:avLst/>
          </a:prstGeom>
          <a:noFill/>
          <a:ln/>
        </p:spPr>
        <p:txBody>
          <a:bodyPr wrap="square" lIns="0" tIns="0" rIns="0" bIns="0" rtlCol="0" anchor="t"/>
          <a:lstStyle/>
          <a:p>
            <a:pPr marL="0" indent="0" algn="l">
              <a:lnSpc>
                <a:spcPts val="2750"/>
              </a:lnSpc>
              <a:buNone/>
            </a:pPr>
            <a:r>
              <a:rPr lang="en-US" sz="1700" dirty="0">
                <a:solidFill>
                  <a:srgbClr val="403C4E"/>
                </a:solidFill>
                <a:latin typeface="Open Sans" pitchFamily="34" charset="0"/>
                <a:ea typeface="Open Sans" pitchFamily="34" charset="-122"/>
                <a:cs typeface="Open Sans" pitchFamily="34" charset="-120"/>
              </a:rPr>
              <a:t>All text is converted to lowercase to reduce dimensionality. For example, 'Free' and 'free' are treated the same. Special characters and digits are removed using isalnum() to focus on meaningful words.</a:t>
            </a:r>
            <a:endParaRPr lang="en-US" sz="1700" dirty="0"/>
          </a:p>
        </p:txBody>
      </p:sp>
      <p:sp>
        <p:nvSpPr>
          <p:cNvPr id="7" name="Shape 4"/>
          <p:cNvSpPr/>
          <p:nvPr/>
        </p:nvSpPr>
        <p:spPr>
          <a:xfrm>
            <a:off x="6591776" y="3745825"/>
            <a:ext cx="165735" cy="1892975"/>
          </a:xfrm>
          <a:prstGeom prst="roundRect">
            <a:avLst>
              <a:gd name="adj" fmla="val 56029"/>
            </a:avLst>
          </a:prstGeom>
          <a:solidFill>
            <a:srgbClr val="FFD8CC"/>
          </a:solidFill>
          <a:ln w="7620">
            <a:solidFill>
              <a:srgbClr val="E5BEB2"/>
            </a:solidFill>
            <a:prstDash val="solid"/>
          </a:ln>
        </p:spPr>
        <p:txBody>
          <a:bodyPr/>
          <a:lstStyle/>
          <a:p>
            <a:endParaRPr lang="en-US"/>
          </a:p>
        </p:txBody>
      </p:sp>
      <p:sp>
        <p:nvSpPr>
          <p:cNvPr id="8" name="Text 5"/>
          <p:cNvSpPr/>
          <p:nvPr/>
        </p:nvSpPr>
        <p:spPr>
          <a:xfrm>
            <a:off x="7089100" y="3745825"/>
            <a:ext cx="3347085" cy="345400"/>
          </a:xfrm>
          <a:prstGeom prst="rect">
            <a:avLst/>
          </a:prstGeom>
          <a:noFill/>
          <a:ln/>
        </p:spPr>
        <p:txBody>
          <a:bodyPr wrap="none" lIns="0" tIns="0" rIns="0" bIns="0" rtlCol="0" anchor="t"/>
          <a:lstStyle/>
          <a:p>
            <a:pPr marL="0" indent="0" algn="l">
              <a:lnSpc>
                <a:spcPts val="2700"/>
              </a:lnSpc>
              <a:buNone/>
            </a:pPr>
            <a:r>
              <a:rPr lang="en-US" sz="2150" b="1" dirty="0">
                <a:solidFill>
                  <a:srgbClr val="403C4E"/>
                </a:solidFill>
                <a:latin typeface="Merriweather Bold" pitchFamily="34" charset="0"/>
                <a:ea typeface="Merriweather Bold" pitchFamily="34" charset="-122"/>
                <a:cs typeface="Merriweather Bold" pitchFamily="34" charset="-120"/>
              </a:rPr>
              <a:t>Tokenization &amp; Filtering</a:t>
            </a:r>
            <a:endParaRPr lang="en-US" sz="2150" dirty="0"/>
          </a:p>
        </p:txBody>
      </p:sp>
      <p:sp>
        <p:nvSpPr>
          <p:cNvPr id="9" name="Text 6"/>
          <p:cNvSpPr/>
          <p:nvPr/>
        </p:nvSpPr>
        <p:spPr>
          <a:xfrm>
            <a:off x="7089100" y="4223861"/>
            <a:ext cx="6767512" cy="1414939"/>
          </a:xfrm>
          <a:prstGeom prst="rect">
            <a:avLst/>
          </a:prstGeom>
          <a:noFill/>
          <a:ln/>
        </p:spPr>
        <p:txBody>
          <a:bodyPr wrap="square" lIns="0" tIns="0" rIns="0" bIns="0" rtlCol="0" anchor="t"/>
          <a:lstStyle/>
          <a:p>
            <a:pPr marL="0" indent="0" algn="l">
              <a:lnSpc>
                <a:spcPts val="2750"/>
              </a:lnSpc>
              <a:buNone/>
            </a:pPr>
            <a:r>
              <a:rPr lang="en-US" sz="1700" dirty="0">
                <a:solidFill>
                  <a:srgbClr val="403C4E"/>
                </a:solidFill>
                <a:latin typeface="Open Sans" pitchFamily="34" charset="0"/>
                <a:ea typeface="Open Sans" pitchFamily="34" charset="-122"/>
                <a:cs typeface="Open Sans" pitchFamily="34" charset="-120"/>
              </a:rPr>
              <a:t>Email content is split into individual words using TreebankWordTokenizer, which handles contractions and punctuation well. Commonly used English words (e.g., 'the', 'is', 'in') are removed using NLTK's stopwords list.</a:t>
            </a:r>
            <a:endParaRPr lang="en-US" sz="1700" dirty="0"/>
          </a:p>
        </p:txBody>
      </p:sp>
      <p:sp>
        <p:nvSpPr>
          <p:cNvPr id="10" name="Shape 7"/>
          <p:cNvSpPr/>
          <p:nvPr/>
        </p:nvSpPr>
        <p:spPr>
          <a:xfrm>
            <a:off x="6923365" y="5859780"/>
            <a:ext cx="165735" cy="1539240"/>
          </a:xfrm>
          <a:prstGeom prst="roundRect">
            <a:avLst>
              <a:gd name="adj" fmla="val 56029"/>
            </a:avLst>
          </a:prstGeom>
          <a:solidFill>
            <a:srgbClr val="FFD8CC"/>
          </a:solidFill>
          <a:ln w="7620">
            <a:solidFill>
              <a:srgbClr val="E5BEB2"/>
            </a:solidFill>
            <a:prstDash val="solid"/>
          </a:ln>
        </p:spPr>
        <p:txBody>
          <a:bodyPr/>
          <a:lstStyle/>
          <a:p>
            <a:endParaRPr lang="en-US"/>
          </a:p>
        </p:txBody>
      </p:sp>
      <p:sp>
        <p:nvSpPr>
          <p:cNvPr id="11" name="Text 8"/>
          <p:cNvSpPr/>
          <p:nvPr/>
        </p:nvSpPr>
        <p:spPr>
          <a:xfrm>
            <a:off x="7420689" y="5859780"/>
            <a:ext cx="2781895" cy="345400"/>
          </a:xfrm>
          <a:prstGeom prst="rect">
            <a:avLst/>
          </a:prstGeom>
          <a:noFill/>
          <a:ln/>
        </p:spPr>
        <p:txBody>
          <a:bodyPr wrap="none" lIns="0" tIns="0" rIns="0" bIns="0" rtlCol="0" anchor="t"/>
          <a:lstStyle/>
          <a:p>
            <a:pPr marL="0" indent="0" algn="l">
              <a:lnSpc>
                <a:spcPts val="2700"/>
              </a:lnSpc>
              <a:buNone/>
            </a:pPr>
            <a:r>
              <a:rPr lang="en-US" sz="2150" b="1" dirty="0">
                <a:solidFill>
                  <a:srgbClr val="403C4E"/>
                </a:solidFill>
                <a:latin typeface="Merriweather Bold" pitchFamily="34" charset="0"/>
                <a:ea typeface="Merriweather Bold" pitchFamily="34" charset="-122"/>
                <a:cs typeface="Merriweather Bold" pitchFamily="34" charset="-120"/>
              </a:rPr>
              <a:t>Word Normalization</a:t>
            </a:r>
            <a:endParaRPr lang="en-US" sz="2150" dirty="0"/>
          </a:p>
        </p:txBody>
      </p:sp>
      <p:sp>
        <p:nvSpPr>
          <p:cNvPr id="12" name="Text 9"/>
          <p:cNvSpPr/>
          <p:nvPr/>
        </p:nvSpPr>
        <p:spPr>
          <a:xfrm>
            <a:off x="7420689" y="6337816"/>
            <a:ext cx="6435923" cy="1061204"/>
          </a:xfrm>
          <a:prstGeom prst="rect">
            <a:avLst/>
          </a:prstGeom>
          <a:noFill/>
          <a:ln/>
        </p:spPr>
        <p:txBody>
          <a:bodyPr wrap="square" lIns="0" tIns="0" rIns="0" bIns="0" rtlCol="0" anchor="t"/>
          <a:lstStyle/>
          <a:p>
            <a:pPr marL="0" indent="0" algn="l">
              <a:lnSpc>
                <a:spcPts val="2750"/>
              </a:lnSpc>
              <a:buNone/>
            </a:pPr>
            <a:r>
              <a:rPr lang="en-US" sz="1700" dirty="0">
                <a:solidFill>
                  <a:srgbClr val="403C4E"/>
                </a:solidFill>
                <a:latin typeface="Open Sans" pitchFamily="34" charset="0"/>
                <a:ea typeface="Open Sans" pitchFamily="34" charset="-122"/>
                <a:cs typeface="Open Sans" pitchFamily="34" charset="-120"/>
              </a:rPr>
              <a:t>PorterStemmer reduces words to their root form (e.g., 'running', 'runs', 'ran' → 'run'), reducing complexity and standardizing word usage for more effective classification.</a:t>
            </a:r>
            <a:endParaRPr lang="en-US" sz="1700" dirty="0"/>
          </a:p>
        </p:txBody>
      </p:sp>
      <p:sp>
        <p:nvSpPr>
          <p:cNvPr id="13" name="Rectangle 12">
            <a:extLst>
              <a:ext uri="{FF2B5EF4-FFF2-40B4-BE49-F238E27FC236}">
                <a16:creationId xmlns:a16="http://schemas.microsoft.com/office/drawing/2014/main" id="{2417C90A-9908-5BB8-5F63-5B034E58B9DE}"/>
              </a:ext>
            </a:extLst>
          </p:cNvPr>
          <p:cNvSpPr/>
          <p:nvPr/>
        </p:nvSpPr>
        <p:spPr>
          <a:xfrm>
            <a:off x="12533971" y="7549376"/>
            <a:ext cx="1996068" cy="5575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240036"/>
            <a:ext cx="10199965" cy="708779"/>
          </a:xfrm>
          <a:prstGeom prst="rect">
            <a:avLst/>
          </a:prstGeom>
          <a:noFill/>
          <a:ln/>
        </p:spPr>
        <p:txBody>
          <a:bodyPr wrap="none" lIns="0" tIns="0" rIns="0" bIns="0" rtlCol="0" anchor="t"/>
          <a:lstStyle/>
          <a:p>
            <a:pPr marL="0" indent="0" algn="l">
              <a:lnSpc>
                <a:spcPts val="5550"/>
              </a:lnSpc>
              <a:buNone/>
            </a:pPr>
            <a:r>
              <a:rPr lang="en-US" sz="4450" b="1" dirty="0">
                <a:solidFill>
                  <a:srgbClr val="403C4E"/>
                </a:solidFill>
                <a:latin typeface="Merriweather Bold" pitchFamily="34" charset="0"/>
                <a:ea typeface="Merriweather Bold" pitchFamily="34" charset="-122"/>
                <a:cs typeface="Merriweather Bold" pitchFamily="34" charset="-120"/>
              </a:rPr>
              <a:t>Machine Learning Models Evaluated</a:t>
            </a:r>
            <a:endParaRPr lang="en-US" sz="4450" dirty="0"/>
          </a:p>
        </p:txBody>
      </p:sp>
      <p:sp>
        <p:nvSpPr>
          <p:cNvPr id="3" name="Text 1"/>
          <p:cNvSpPr/>
          <p:nvPr/>
        </p:nvSpPr>
        <p:spPr>
          <a:xfrm>
            <a:off x="1663660" y="3724989"/>
            <a:ext cx="2915364" cy="354330"/>
          </a:xfrm>
          <a:prstGeom prst="rect">
            <a:avLst/>
          </a:prstGeom>
          <a:noFill/>
          <a:ln/>
        </p:spPr>
        <p:txBody>
          <a:bodyPr wrap="none" lIns="0" tIns="0" rIns="0" bIns="0" rtlCol="0" anchor="t"/>
          <a:lstStyle/>
          <a:p>
            <a:pPr marL="0" indent="0" algn="r">
              <a:lnSpc>
                <a:spcPts val="2750"/>
              </a:lnSpc>
              <a:buNone/>
            </a:pPr>
            <a:r>
              <a:rPr lang="en-US" sz="2200" b="1" dirty="0">
                <a:solidFill>
                  <a:srgbClr val="403C4E"/>
                </a:solidFill>
                <a:latin typeface="Merriweather Bold" pitchFamily="34" charset="0"/>
                <a:ea typeface="Merriweather Bold" pitchFamily="34" charset="-122"/>
                <a:cs typeface="Merriweather Bold" pitchFamily="34" charset="-120"/>
              </a:rPr>
              <a:t>Naive Bayes Variants</a:t>
            </a:r>
            <a:endParaRPr lang="en-US" sz="2200" dirty="0"/>
          </a:p>
        </p:txBody>
      </p:sp>
      <p:sp>
        <p:nvSpPr>
          <p:cNvPr id="4" name="Text 2"/>
          <p:cNvSpPr/>
          <p:nvPr/>
        </p:nvSpPr>
        <p:spPr>
          <a:xfrm>
            <a:off x="793790" y="4215408"/>
            <a:ext cx="3785235" cy="1451610"/>
          </a:xfrm>
          <a:prstGeom prst="rect">
            <a:avLst/>
          </a:prstGeom>
          <a:noFill/>
          <a:ln/>
        </p:spPr>
        <p:txBody>
          <a:bodyPr wrap="square" lIns="0" tIns="0" rIns="0" bIns="0" rtlCol="0" anchor="t"/>
          <a:lstStyle/>
          <a:p>
            <a:pPr marL="0" indent="0" algn="r">
              <a:lnSpc>
                <a:spcPts val="2850"/>
              </a:lnSpc>
              <a:buNone/>
            </a:pPr>
            <a:r>
              <a:rPr lang="en-US" sz="1750" dirty="0">
                <a:solidFill>
                  <a:srgbClr val="403C4E"/>
                </a:solidFill>
                <a:latin typeface="Open Sans" pitchFamily="34" charset="0"/>
                <a:ea typeface="Open Sans" pitchFamily="34" charset="-122"/>
                <a:cs typeface="Open Sans" pitchFamily="34" charset="-120"/>
              </a:rPr>
              <a:t>Gaussian, Multinomial, and Bernoulli Naive Bayes were tested, with Bernoulli performing best for binary features.</a:t>
            </a:r>
            <a:endParaRPr lang="en-US" sz="1750" dirty="0"/>
          </a:p>
        </p:txBody>
      </p:sp>
      <p:pic>
        <p:nvPicPr>
          <p:cNvPr id="5" name="Image 0" descr="preencoded.png"/>
          <p:cNvPicPr>
            <a:picLocks noChangeAspect="1"/>
          </p:cNvPicPr>
          <p:nvPr/>
        </p:nvPicPr>
        <p:blipFill>
          <a:blip r:embed="rId3"/>
          <a:stretch>
            <a:fillRect/>
          </a:stretch>
        </p:blipFill>
        <p:spPr>
          <a:xfrm>
            <a:off x="5032653" y="2413516"/>
            <a:ext cx="4564975" cy="4564975"/>
          </a:xfrm>
          <a:prstGeom prst="rect">
            <a:avLst/>
          </a:prstGeom>
        </p:spPr>
      </p:pic>
      <p:pic>
        <p:nvPicPr>
          <p:cNvPr id="6" name="Image 1" descr="preencoded.png"/>
          <p:cNvPicPr>
            <a:picLocks noChangeAspect="1"/>
          </p:cNvPicPr>
          <p:nvPr/>
        </p:nvPicPr>
        <p:blipFill>
          <a:blip r:embed="rId4"/>
          <a:stretch>
            <a:fillRect/>
          </a:stretch>
        </p:blipFill>
        <p:spPr>
          <a:xfrm>
            <a:off x="5547717" y="4483775"/>
            <a:ext cx="339328" cy="424220"/>
          </a:xfrm>
          <a:prstGeom prst="rect">
            <a:avLst/>
          </a:prstGeom>
        </p:spPr>
      </p:pic>
      <p:sp>
        <p:nvSpPr>
          <p:cNvPr id="7" name="Text 3"/>
          <p:cNvSpPr/>
          <p:nvPr/>
        </p:nvSpPr>
        <p:spPr>
          <a:xfrm>
            <a:off x="9937790" y="240244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3C4E"/>
                </a:solidFill>
                <a:latin typeface="Merriweather Bold" pitchFamily="34" charset="0"/>
                <a:ea typeface="Merriweather Bold" pitchFamily="34" charset="-122"/>
                <a:cs typeface="Merriweather Bold" pitchFamily="34" charset="-120"/>
              </a:rPr>
              <a:t>Tree-Based Models</a:t>
            </a:r>
            <a:endParaRPr lang="en-US" sz="2200" dirty="0"/>
          </a:p>
        </p:txBody>
      </p:sp>
      <p:sp>
        <p:nvSpPr>
          <p:cNvPr id="8" name="Text 4"/>
          <p:cNvSpPr/>
          <p:nvPr/>
        </p:nvSpPr>
        <p:spPr>
          <a:xfrm>
            <a:off x="9937790" y="2892862"/>
            <a:ext cx="3898821" cy="1451610"/>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Random Forest showed high accuracy but higher computational cost. Decision Trees were simple but prone to overfitting.</a:t>
            </a:r>
            <a:endParaRPr lang="en-US" sz="1750" dirty="0"/>
          </a:p>
        </p:txBody>
      </p:sp>
      <p:pic>
        <p:nvPicPr>
          <p:cNvPr id="9" name="Image 2" descr="preencoded.png"/>
          <p:cNvPicPr>
            <a:picLocks noChangeAspect="1"/>
          </p:cNvPicPr>
          <p:nvPr/>
        </p:nvPicPr>
        <p:blipFill>
          <a:blip r:embed="rId5"/>
          <a:stretch>
            <a:fillRect/>
          </a:stretch>
        </p:blipFill>
        <p:spPr>
          <a:xfrm>
            <a:off x="5032653" y="2413516"/>
            <a:ext cx="4564975" cy="4564975"/>
          </a:xfrm>
          <a:prstGeom prst="rect">
            <a:avLst/>
          </a:prstGeom>
        </p:spPr>
      </p:pic>
      <p:pic>
        <p:nvPicPr>
          <p:cNvPr id="10" name="Image 3" descr="preencoded.png"/>
          <p:cNvPicPr>
            <a:picLocks noChangeAspect="1"/>
          </p:cNvPicPr>
          <p:nvPr/>
        </p:nvPicPr>
        <p:blipFill>
          <a:blip r:embed="rId6"/>
          <a:stretch>
            <a:fillRect/>
          </a:stretch>
        </p:blipFill>
        <p:spPr>
          <a:xfrm>
            <a:off x="7944326" y="3100149"/>
            <a:ext cx="339328" cy="424220"/>
          </a:xfrm>
          <a:prstGeom prst="rect">
            <a:avLst/>
          </a:prstGeom>
        </p:spPr>
      </p:pic>
      <p:sp>
        <p:nvSpPr>
          <p:cNvPr id="11" name="Text 5"/>
          <p:cNvSpPr/>
          <p:nvPr/>
        </p:nvSpPr>
        <p:spPr>
          <a:xfrm>
            <a:off x="9937790" y="4684633"/>
            <a:ext cx="2835235" cy="354330"/>
          </a:xfrm>
          <a:prstGeom prst="rect">
            <a:avLst/>
          </a:prstGeom>
          <a:noFill/>
          <a:ln/>
        </p:spPr>
        <p:txBody>
          <a:bodyPr wrap="none" lIns="0" tIns="0" rIns="0" bIns="0" rtlCol="0" anchor="t"/>
          <a:lstStyle/>
          <a:p>
            <a:pPr marL="0" indent="0" algn="l">
              <a:lnSpc>
                <a:spcPts val="2750"/>
              </a:lnSpc>
              <a:buNone/>
            </a:pPr>
            <a:r>
              <a:rPr lang="en-US" sz="2200" b="1" dirty="0">
                <a:solidFill>
                  <a:srgbClr val="403C4E"/>
                </a:solidFill>
                <a:latin typeface="Merriweather Bold" pitchFamily="34" charset="0"/>
                <a:ea typeface="Merriweather Bold" pitchFamily="34" charset="-122"/>
                <a:cs typeface="Merriweather Bold" pitchFamily="34" charset="-120"/>
              </a:rPr>
              <a:t>Linear Models</a:t>
            </a:r>
            <a:endParaRPr lang="en-US" sz="2200" dirty="0"/>
          </a:p>
        </p:txBody>
      </p:sp>
      <p:sp>
        <p:nvSpPr>
          <p:cNvPr id="12" name="Text 6"/>
          <p:cNvSpPr/>
          <p:nvPr/>
        </p:nvSpPr>
        <p:spPr>
          <a:xfrm>
            <a:off x="9937790" y="5175052"/>
            <a:ext cx="3898821" cy="1814513"/>
          </a:xfrm>
          <a:prstGeom prst="rect">
            <a:avLst/>
          </a:prstGeom>
          <a:noFill/>
          <a:ln/>
        </p:spPr>
        <p:txBody>
          <a:bodyPr wrap="square" lIns="0" tIns="0" rIns="0" bIns="0" rtlCol="0" anchor="t"/>
          <a:lstStyle/>
          <a:p>
            <a:pPr marL="0" indent="0" algn="l">
              <a:lnSpc>
                <a:spcPts val="2850"/>
              </a:lnSpc>
              <a:buNone/>
            </a:pPr>
            <a:r>
              <a:rPr lang="en-US" sz="1750" dirty="0">
                <a:solidFill>
                  <a:srgbClr val="403C4E"/>
                </a:solidFill>
                <a:latin typeface="Open Sans" pitchFamily="34" charset="0"/>
                <a:ea typeface="Open Sans" pitchFamily="34" charset="-122"/>
                <a:cs typeface="Open Sans" pitchFamily="34" charset="-120"/>
              </a:rPr>
              <a:t>Support Vector Classifier works well in high-dimensional space. Logistic Regression performed well but slightly underperformed BernoulliNB.</a:t>
            </a:r>
            <a:endParaRPr lang="en-US" sz="1750" dirty="0"/>
          </a:p>
        </p:txBody>
      </p:sp>
      <p:pic>
        <p:nvPicPr>
          <p:cNvPr id="13" name="Image 4" descr="preencoded.png"/>
          <p:cNvPicPr>
            <a:picLocks noChangeAspect="1"/>
          </p:cNvPicPr>
          <p:nvPr/>
        </p:nvPicPr>
        <p:blipFill>
          <a:blip r:embed="rId7"/>
          <a:stretch>
            <a:fillRect/>
          </a:stretch>
        </p:blipFill>
        <p:spPr>
          <a:xfrm>
            <a:off x="5032653" y="2413516"/>
            <a:ext cx="4564975" cy="4564975"/>
          </a:xfrm>
          <a:prstGeom prst="rect">
            <a:avLst/>
          </a:prstGeom>
        </p:spPr>
      </p:pic>
      <p:pic>
        <p:nvPicPr>
          <p:cNvPr id="14" name="Image 5" descr="preencoded.png"/>
          <p:cNvPicPr>
            <a:picLocks noChangeAspect="1"/>
          </p:cNvPicPr>
          <p:nvPr/>
        </p:nvPicPr>
        <p:blipFill>
          <a:blip r:embed="rId8"/>
          <a:stretch>
            <a:fillRect/>
          </a:stretch>
        </p:blipFill>
        <p:spPr>
          <a:xfrm>
            <a:off x="7944326" y="5867400"/>
            <a:ext cx="339328" cy="424220"/>
          </a:xfrm>
          <a:prstGeom prst="rect">
            <a:avLst/>
          </a:prstGeom>
        </p:spPr>
      </p:pic>
      <p:sp>
        <p:nvSpPr>
          <p:cNvPr id="15" name="Rectangle 14">
            <a:extLst>
              <a:ext uri="{FF2B5EF4-FFF2-40B4-BE49-F238E27FC236}">
                <a16:creationId xmlns:a16="http://schemas.microsoft.com/office/drawing/2014/main" id="{A185564E-5CC3-4580-7B4F-31F1287B99D7}"/>
              </a:ext>
            </a:extLst>
          </p:cNvPr>
          <p:cNvSpPr/>
          <p:nvPr/>
        </p:nvSpPr>
        <p:spPr>
          <a:xfrm>
            <a:off x="12533971" y="7549376"/>
            <a:ext cx="1996068" cy="5575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0"/>
          <p:cNvSpPr/>
          <p:nvPr/>
        </p:nvSpPr>
        <p:spPr>
          <a:xfrm>
            <a:off x="682704" y="536377"/>
            <a:ext cx="7778591" cy="1219200"/>
          </a:xfrm>
          <a:prstGeom prst="rect">
            <a:avLst/>
          </a:prstGeom>
          <a:noFill/>
          <a:ln/>
        </p:spPr>
        <p:txBody>
          <a:bodyPr wrap="square" lIns="0" tIns="0" rIns="0" bIns="0" rtlCol="0" anchor="t"/>
          <a:lstStyle/>
          <a:p>
            <a:pPr marL="0" indent="0" algn="l">
              <a:lnSpc>
                <a:spcPts val="4750"/>
              </a:lnSpc>
              <a:buNone/>
            </a:pPr>
            <a:r>
              <a:rPr lang="en-US" sz="3800" b="1" dirty="0">
                <a:solidFill>
                  <a:srgbClr val="403C4E"/>
                </a:solidFill>
                <a:latin typeface="Merriweather Bold" pitchFamily="34" charset="0"/>
                <a:ea typeface="Merriweather Bold" pitchFamily="34" charset="-122"/>
                <a:cs typeface="Merriweather Bold" pitchFamily="34" charset="-120"/>
              </a:rPr>
              <a:t>Why Bernoulli Naive Bayes Performed Best</a:t>
            </a:r>
            <a:endParaRPr lang="en-US" sz="3800" dirty="0"/>
          </a:p>
        </p:txBody>
      </p:sp>
      <p:sp>
        <p:nvSpPr>
          <p:cNvPr id="4" name="Shape 1"/>
          <p:cNvSpPr/>
          <p:nvPr/>
        </p:nvSpPr>
        <p:spPr>
          <a:xfrm>
            <a:off x="682704" y="2267545"/>
            <a:ext cx="438864" cy="438864"/>
          </a:xfrm>
          <a:prstGeom prst="roundRect">
            <a:avLst>
              <a:gd name="adj" fmla="val 18669"/>
            </a:avLst>
          </a:prstGeom>
          <a:solidFill>
            <a:srgbClr val="FFD8CC"/>
          </a:solidFill>
          <a:ln w="7620">
            <a:solidFill>
              <a:srgbClr val="E5BEB2"/>
            </a:solidFill>
            <a:prstDash val="solid"/>
          </a:ln>
        </p:spPr>
        <p:txBody>
          <a:bodyPr/>
          <a:lstStyle/>
          <a:p>
            <a:endParaRPr lang="en-US"/>
          </a:p>
        </p:txBody>
      </p:sp>
      <p:pic>
        <p:nvPicPr>
          <p:cNvPr id="5" name="Image 1" descr="preencoded.png"/>
          <p:cNvPicPr>
            <a:picLocks noChangeAspect="1"/>
          </p:cNvPicPr>
          <p:nvPr/>
        </p:nvPicPr>
        <p:blipFill>
          <a:blip r:embed="rId3"/>
          <a:stretch>
            <a:fillRect/>
          </a:stretch>
        </p:blipFill>
        <p:spPr>
          <a:xfrm>
            <a:off x="755868" y="2304157"/>
            <a:ext cx="292537" cy="365641"/>
          </a:xfrm>
          <a:prstGeom prst="rect">
            <a:avLst/>
          </a:prstGeom>
        </p:spPr>
      </p:pic>
      <p:sp>
        <p:nvSpPr>
          <p:cNvPr id="6" name="Text 2"/>
          <p:cNvSpPr/>
          <p:nvPr/>
        </p:nvSpPr>
        <p:spPr>
          <a:xfrm>
            <a:off x="1316593" y="2267545"/>
            <a:ext cx="3126819" cy="304800"/>
          </a:xfrm>
          <a:prstGeom prst="rect">
            <a:avLst/>
          </a:prstGeom>
          <a:noFill/>
          <a:ln/>
        </p:spPr>
        <p:txBody>
          <a:bodyPr wrap="none" lIns="0" tIns="0" rIns="0" bIns="0" rtlCol="0" anchor="t"/>
          <a:lstStyle/>
          <a:p>
            <a:pPr marL="0" indent="0" algn="l">
              <a:lnSpc>
                <a:spcPts val="2400"/>
              </a:lnSpc>
              <a:buNone/>
            </a:pPr>
            <a:r>
              <a:rPr lang="en-US" sz="1900" b="1" dirty="0">
                <a:solidFill>
                  <a:srgbClr val="403C4E"/>
                </a:solidFill>
                <a:latin typeface="Merriweather Bold" pitchFamily="34" charset="0"/>
                <a:ea typeface="Merriweather Bold" pitchFamily="34" charset="-122"/>
                <a:cs typeface="Merriweather Bold" pitchFamily="34" charset="-120"/>
              </a:rPr>
              <a:t>Binary Feature Alignment</a:t>
            </a:r>
            <a:endParaRPr lang="en-US" sz="1900" dirty="0"/>
          </a:p>
        </p:txBody>
      </p:sp>
      <p:sp>
        <p:nvSpPr>
          <p:cNvPr id="7" name="Text 3"/>
          <p:cNvSpPr/>
          <p:nvPr/>
        </p:nvSpPr>
        <p:spPr>
          <a:xfrm>
            <a:off x="1316593" y="2689384"/>
            <a:ext cx="7144703" cy="623887"/>
          </a:xfrm>
          <a:prstGeom prst="rect">
            <a:avLst/>
          </a:prstGeom>
          <a:noFill/>
          <a:ln/>
        </p:spPr>
        <p:txBody>
          <a:bodyPr wrap="square" lIns="0" tIns="0" rIns="0" bIns="0" rtlCol="0" anchor="t"/>
          <a:lstStyle/>
          <a:p>
            <a:pPr marL="0" indent="0" algn="l">
              <a:lnSpc>
                <a:spcPts val="2450"/>
              </a:lnSpc>
              <a:buNone/>
            </a:pPr>
            <a:r>
              <a:rPr lang="en-US" sz="1500" dirty="0">
                <a:solidFill>
                  <a:srgbClr val="403C4E"/>
                </a:solidFill>
                <a:latin typeface="Open Sans" pitchFamily="34" charset="0"/>
                <a:ea typeface="Open Sans" pitchFamily="34" charset="-122"/>
                <a:cs typeface="Open Sans" pitchFamily="34" charset="-120"/>
              </a:rPr>
              <a:t>Bernoulli Naive Bayes assumes binary features, which align closely with the TF-IDF representation of emails (word exists vs. not exists).</a:t>
            </a:r>
            <a:endParaRPr lang="en-US" sz="1500" dirty="0"/>
          </a:p>
        </p:txBody>
      </p:sp>
      <p:sp>
        <p:nvSpPr>
          <p:cNvPr id="8" name="Shape 4"/>
          <p:cNvSpPr/>
          <p:nvPr/>
        </p:nvSpPr>
        <p:spPr>
          <a:xfrm>
            <a:off x="682704" y="3727728"/>
            <a:ext cx="438864" cy="438864"/>
          </a:xfrm>
          <a:prstGeom prst="roundRect">
            <a:avLst>
              <a:gd name="adj" fmla="val 18669"/>
            </a:avLst>
          </a:prstGeom>
          <a:solidFill>
            <a:srgbClr val="FFD8CC"/>
          </a:solidFill>
          <a:ln w="7620">
            <a:solidFill>
              <a:srgbClr val="E5BEB2"/>
            </a:solidFill>
            <a:prstDash val="solid"/>
          </a:ln>
        </p:spPr>
        <p:txBody>
          <a:bodyPr/>
          <a:lstStyle/>
          <a:p>
            <a:endParaRPr lang="en-US"/>
          </a:p>
        </p:txBody>
      </p:sp>
      <p:pic>
        <p:nvPicPr>
          <p:cNvPr id="9" name="Image 2" descr="preencoded.png"/>
          <p:cNvPicPr>
            <a:picLocks noChangeAspect="1"/>
          </p:cNvPicPr>
          <p:nvPr/>
        </p:nvPicPr>
        <p:blipFill>
          <a:blip r:embed="rId4"/>
          <a:stretch>
            <a:fillRect/>
          </a:stretch>
        </p:blipFill>
        <p:spPr>
          <a:xfrm>
            <a:off x="755868" y="3764340"/>
            <a:ext cx="292537" cy="365641"/>
          </a:xfrm>
          <a:prstGeom prst="rect">
            <a:avLst/>
          </a:prstGeom>
        </p:spPr>
      </p:pic>
      <p:sp>
        <p:nvSpPr>
          <p:cNvPr id="10" name="Text 5"/>
          <p:cNvSpPr/>
          <p:nvPr/>
        </p:nvSpPr>
        <p:spPr>
          <a:xfrm>
            <a:off x="1316593" y="3727728"/>
            <a:ext cx="3064788" cy="304800"/>
          </a:xfrm>
          <a:prstGeom prst="rect">
            <a:avLst/>
          </a:prstGeom>
          <a:noFill/>
          <a:ln/>
        </p:spPr>
        <p:txBody>
          <a:bodyPr wrap="none" lIns="0" tIns="0" rIns="0" bIns="0" rtlCol="0" anchor="t"/>
          <a:lstStyle/>
          <a:p>
            <a:pPr marL="0" indent="0" algn="l">
              <a:lnSpc>
                <a:spcPts val="2400"/>
              </a:lnSpc>
              <a:buNone/>
            </a:pPr>
            <a:r>
              <a:rPr lang="en-US" sz="1900" b="1" dirty="0">
                <a:solidFill>
                  <a:srgbClr val="403C4E"/>
                </a:solidFill>
                <a:latin typeface="Merriweather Bold" pitchFamily="34" charset="0"/>
                <a:ea typeface="Merriweather Bold" pitchFamily="34" charset="-122"/>
                <a:cs typeface="Merriweather Bold" pitchFamily="34" charset="-120"/>
              </a:rPr>
              <a:t>Computational Efficiency</a:t>
            </a:r>
            <a:endParaRPr lang="en-US" sz="1900" dirty="0"/>
          </a:p>
        </p:txBody>
      </p:sp>
      <p:sp>
        <p:nvSpPr>
          <p:cNvPr id="11" name="Text 6"/>
          <p:cNvSpPr/>
          <p:nvPr/>
        </p:nvSpPr>
        <p:spPr>
          <a:xfrm>
            <a:off x="1316593" y="4149566"/>
            <a:ext cx="7144703" cy="623887"/>
          </a:xfrm>
          <a:prstGeom prst="rect">
            <a:avLst/>
          </a:prstGeom>
          <a:noFill/>
          <a:ln/>
        </p:spPr>
        <p:txBody>
          <a:bodyPr wrap="square" lIns="0" tIns="0" rIns="0" bIns="0" rtlCol="0" anchor="t"/>
          <a:lstStyle/>
          <a:p>
            <a:pPr marL="0" indent="0" algn="l">
              <a:lnSpc>
                <a:spcPts val="2450"/>
              </a:lnSpc>
              <a:buNone/>
            </a:pPr>
            <a:r>
              <a:rPr lang="en-US" sz="1500" dirty="0">
                <a:solidFill>
                  <a:srgbClr val="403C4E"/>
                </a:solidFill>
                <a:latin typeface="Open Sans" pitchFamily="34" charset="0"/>
                <a:ea typeface="Open Sans" pitchFamily="34" charset="-122"/>
                <a:cs typeface="Open Sans" pitchFamily="34" charset="-120"/>
              </a:rPr>
              <a:t>Its simplicity and low computation time made it ideal for real-time classification of incoming emails.</a:t>
            </a:r>
            <a:endParaRPr lang="en-US" sz="1500" dirty="0"/>
          </a:p>
        </p:txBody>
      </p:sp>
      <p:sp>
        <p:nvSpPr>
          <p:cNvPr id="12" name="Shape 7"/>
          <p:cNvSpPr/>
          <p:nvPr/>
        </p:nvSpPr>
        <p:spPr>
          <a:xfrm>
            <a:off x="682704" y="5187910"/>
            <a:ext cx="438864" cy="438864"/>
          </a:xfrm>
          <a:prstGeom prst="roundRect">
            <a:avLst>
              <a:gd name="adj" fmla="val 18669"/>
            </a:avLst>
          </a:prstGeom>
          <a:solidFill>
            <a:srgbClr val="FFD8CC"/>
          </a:solidFill>
          <a:ln w="7620">
            <a:solidFill>
              <a:srgbClr val="E5BEB2"/>
            </a:solidFill>
            <a:prstDash val="solid"/>
          </a:ln>
        </p:spPr>
        <p:txBody>
          <a:bodyPr/>
          <a:lstStyle/>
          <a:p>
            <a:endParaRPr lang="en-US"/>
          </a:p>
        </p:txBody>
      </p:sp>
      <p:pic>
        <p:nvPicPr>
          <p:cNvPr id="13" name="Image 3" descr="preencoded.png"/>
          <p:cNvPicPr>
            <a:picLocks noChangeAspect="1"/>
          </p:cNvPicPr>
          <p:nvPr/>
        </p:nvPicPr>
        <p:blipFill>
          <a:blip r:embed="rId5"/>
          <a:stretch>
            <a:fillRect/>
          </a:stretch>
        </p:blipFill>
        <p:spPr>
          <a:xfrm>
            <a:off x="755868" y="5224522"/>
            <a:ext cx="292537" cy="365641"/>
          </a:xfrm>
          <a:prstGeom prst="rect">
            <a:avLst/>
          </a:prstGeom>
        </p:spPr>
      </p:pic>
      <p:sp>
        <p:nvSpPr>
          <p:cNvPr id="14" name="Text 8"/>
          <p:cNvSpPr/>
          <p:nvPr/>
        </p:nvSpPr>
        <p:spPr>
          <a:xfrm>
            <a:off x="1316593" y="5187910"/>
            <a:ext cx="3242786" cy="304800"/>
          </a:xfrm>
          <a:prstGeom prst="rect">
            <a:avLst/>
          </a:prstGeom>
          <a:noFill/>
          <a:ln/>
        </p:spPr>
        <p:txBody>
          <a:bodyPr wrap="none" lIns="0" tIns="0" rIns="0" bIns="0" rtlCol="0" anchor="t"/>
          <a:lstStyle/>
          <a:p>
            <a:pPr marL="0" indent="0" algn="l">
              <a:lnSpc>
                <a:spcPts val="2400"/>
              </a:lnSpc>
              <a:buNone/>
            </a:pPr>
            <a:r>
              <a:rPr lang="en-US" sz="1900" b="1" dirty="0">
                <a:solidFill>
                  <a:srgbClr val="403C4E"/>
                </a:solidFill>
                <a:latin typeface="Merriweather Bold" pitchFamily="34" charset="0"/>
                <a:ea typeface="Merriweather Bold" pitchFamily="34" charset="-122"/>
                <a:cs typeface="Merriweather Bold" pitchFamily="34" charset="-120"/>
              </a:rPr>
              <a:t>Word Absence Significance</a:t>
            </a:r>
            <a:endParaRPr lang="en-US" sz="1900" dirty="0"/>
          </a:p>
        </p:txBody>
      </p:sp>
      <p:sp>
        <p:nvSpPr>
          <p:cNvPr id="15" name="Text 9"/>
          <p:cNvSpPr/>
          <p:nvPr/>
        </p:nvSpPr>
        <p:spPr>
          <a:xfrm>
            <a:off x="1316593" y="5609749"/>
            <a:ext cx="7144703" cy="623887"/>
          </a:xfrm>
          <a:prstGeom prst="rect">
            <a:avLst/>
          </a:prstGeom>
          <a:noFill/>
          <a:ln/>
        </p:spPr>
        <p:txBody>
          <a:bodyPr wrap="square" lIns="0" tIns="0" rIns="0" bIns="0" rtlCol="0" anchor="t"/>
          <a:lstStyle/>
          <a:p>
            <a:pPr marL="0" indent="0" algn="l">
              <a:lnSpc>
                <a:spcPts val="2450"/>
              </a:lnSpc>
              <a:buNone/>
            </a:pPr>
            <a:r>
              <a:rPr lang="en-US" sz="1500" dirty="0">
                <a:solidFill>
                  <a:srgbClr val="403C4E"/>
                </a:solidFill>
                <a:latin typeface="Open Sans" pitchFamily="34" charset="0"/>
                <a:ea typeface="Open Sans" pitchFamily="34" charset="-122"/>
                <a:cs typeface="Open Sans" pitchFamily="34" charset="-120"/>
              </a:rPr>
              <a:t>This model is especially effective in scenarios where absence of a word is as important as its presence in determining spam.</a:t>
            </a:r>
            <a:endParaRPr lang="en-US" sz="1500" dirty="0"/>
          </a:p>
        </p:txBody>
      </p:sp>
      <p:sp>
        <p:nvSpPr>
          <p:cNvPr id="16" name="Shape 10"/>
          <p:cNvSpPr/>
          <p:nvPr/>
        </p:nvSpPr>
        <p:spPr>
          <a:xfrm>
            <a:off x="682704" y="6648093"/>
            <a:ext cx="438864" cy="438864"/>
          </a:xfrm>
          <a:prstGeom prst="roundRect">
            <a:avLst>
              <a:gd name="adj" fmla="val 18669"/>
            </a:avLst>
          </a:prstGeom>
          <a:solidFill>
            <a:srgbClr val="FFD8CC"/>
          </a:solidFill>
          <a:ln w="7620">
            <a:solidFill>
              <a:srgbClr val="E5BEB2"/>
            </a:solidFill>
            <a:prstDash val="solid"/>
          </a:ln>
        </p:spPr>
        <p:txBody>
          <a:bodyPr/>
          <a:lstStyle/>
          <a:p>
            <a:endParaRPr lang="en-US"/>
          </a:p>
        </p:txBody>
      </p:sp>
      <p:pic>
        <p:nvPicPr>
          <p:cNvPr id="17" name="Image 4" descr="preencoded.png"/>
          <p:cNvPicPr>
            <a:picLocks noChangeAspect="1"/>
          </p:cNvPicPr>
          <p:nvPr/>
        </p:nvPicPr>
        <p:blipFill>
          <a:blip r:embed="rId6"/>
          <a:stretch>
            <a:fillRect/>
          </a:stretch>
        </p:blipFill>
        <p:spPr>
          <a:xfrm>
            <a:off x="755868" y="6684705"/>
            <a:ext cx="292537" cy="365641"/>
          </a:xfrm>
          <a:prstGeom prst="rect">
            <a:avLst/>
          </a:prstGeom>
        </p:spPr>
      </p:pic>
      <p:sp>
        <p:nvSpPr>
          <p:cNvPr id="18" name="Text 11"/>
          <p:cNvSpPr/>
          <p:nvPr/>
        </p:nvSpPr>
        <p:spPr>
          <a:xfrm>
            <a:off x="1316593" y="6648093"/>
            <a:ext cx="3683913" cy="304800"/>
          </a:xfrm>
          <a:prstGeom prst="rect">
            <a:avLst/>
          </a:prstGeom>
          <a:noFill/>
          <a:ln/>
        </p:spPr>
        <p:txBody>
          <a:bodyPr wrap="none" lIns="0" tIns="0" rIns="0" bIns="0" rtlCol="0" anchor="t"/>
          <a:lstStyle/>
          <a:p>
            <a:pPr marL="0" indent="0" algn="l">
              <a:lnSpc>
                <a:spcPts val="2400"/>
              </a:lnSpc>
              <a:buNone/>
            </a:pPr>
            <a:r>
              <a:rPr lang="en-US" sz="1900" b="1" dirty="0">
                <a:solidFill>
                  <a:srgbClr val="403C4E"/>
                </a:solidFill>
                <a:latin typeface="Merriweather Bold" pitchFamily="34" charset="0"/>
                <a:ea typeface="Merriweather Bold" pitchFamily="34" charset="-122"/>
                <a:cs typeface="Merriweather Bold" pitchFamily="34" charset="-120"/>
              </a:rPr>
              <a:t>Research-Backed Performance</a:t>
            </a:r>
            <a:endParaRPr lang="en-US" sz="1900" dirty="0"/>
          </a:p>
        </p:txBody>
      </p:sp>
      <p:sp>
        <p:nvSpPr>
          <p:cNvPr id="19" name="Text 12"/>
          <p:cNvSpPr/>
          <p:nvPr/>
        </p:nvSpPr>
        <p:spPr>
          <a:xfrm>
            <a:off x="1316593" y="7069931"/>
            <a:ext cx="7144703" cy="623887"/>
          </a:xfrm>
          <a:prstGeom prst="rect">
            <a:avLst/>
          </a:prstGeom>
          <a:noFill/>
          <a:ln/>
        </p:spPr>
        <p:txBody>
          <a:bodyPr wrap="square" lIns="0" tIns="0" rIns="0" bIns="0" rtlCol="0" anchor="t"/>
          <a:lstStyle/>
          <a:p>
            <a:pPr marL="0" indent="0" algn="l">
              <a:lnSpc>
                <a:spcPts val="2450"/>
              </a:lnSpc>
              <a:buNone/>
            </a:pPr>
            <a:r>
              <a:rPr lang="en-US" sz="1500" dirty="0">
                <a:solidFill>
                  <a:srgbClr val="403C4E"/>
                </a:solidFill>
                <a:latin typeface="Open Sans" pitchFamily="34" charset="0"/>
                <a:ea typeface="Open Sans" pitchFamily="34" charset="-122"/>
                <a:cs typeface="Open Sans" pitchFamily="34" charset="-120"/>
              </a:rPr>
              <a:t>Academic research supports its effectiveness in binary text classification tasks like spam detection.</a:t>
            </a:r>
            <a:endParaRPr lang="en-US" sz="1500" dirty="0"/>
          </a:p>
        </p:txBody>
      </p:sp>
      <p:pic>
        <p:nvPicPr>
          <p:cNvPr id="21" name="Picture 20" descr="A screenshot of a computer&#10;&#10;AI-generated content may be incorrect.">
            <a:extLst>
              <a:ext uri="{FF2B5EF4-FFF2-40B4-BE49-F238E27FC236}">
                <a16:creationId xmlns:a16="http://schemas.microsoft.com/office/drawing/2014/main" id="{53EA053E-723A-14F9-BCB9-B5FF5F52AE1E}"/>
              </a:ext>
            </a:extLst>
          </p:cNvPr>
          <p:cNvPicPr>
            <a:picLocks noChangeAspect="1"/>
          </p:cNvPicPr>
          <p:nvPr/>
        </p:nvPicPr>
        <p:blipFill>
          <a:blip r:embed="rId7"/>
          <a:stretch>
            <a:fillRect/>
          </a:stretch>
        </p:blipFill>
        <p:spPr>
          <a:xfrm>
            <a:off x="8846134" y="1"/>
            <a:ext cx="5784265" cy="82296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0"/>
          <p:cNvSpPr/>
          <p:nvPr/>
        </p:nvSpPr>
        <p:spPr>
          <a:xfrm>
            <a:off x="727829" y="572333"/>
            <a:ext cx="6855262" cy="649843"/>
          </a:xfrm>
          <a:prstGeom prst="rect">
            <a:avLst/>
          </a:prstGeom>
          <a:noFill/>
          <a:ln/>
        </p:spPr>
        <p:txBody>
          <a:bodyPr wrap="none" lIns="0" tIns="0" rIns="0" bIns="0" rtlCol="0" anchor="t"/>
          <a:lstStyle/>
          <a:p>
            <a:pPr marL="0" indent="0" algn="l">
              <a:lnSpc>
                <a:spcPts val="5100"/>
              </a:lnSpc>
              <a:buNone/>
            </a:pPr>
            <a:r>
              <a:rPr lang="en-US" sz="4050" b="1" dirty="0">
                <a:solidFill>
                  <a:srgbClr val="403C4E"/>
                </a:solidFill>
                <a:latin typeface="Merriweather Bold" pitchFamily="34" charset="0"/>
                <a:ea typeface="Merriweather Bold" pitchFamily="34" charset="-122"/>
                <a:cs typeface="Merriweather Bold" pitchFamily="34" charset="-120"/>
              </a:rPr>
              <a:t>Current Model Limitations</a:t>
            </a:r>
            <a:endParaRPr lang="en-US" sz="4050" dirty="0"/>
          </a:p>
        </p:txBody>
      </p:sp>
      <p:pic>
        <p:nvPicPr>
          <p:cNvPr id="4" name="Image 1" descr="preencoded.png"/>
          <p:cNvPicPr>
            <a:picLocks noChangeAspect="1"/>
          </p:cNvPicPr>
          <p:nvPr/>
        </p:nvPicPr>
        <p:blipFill>
          <a:blip r:embed="rId3"/>
          <a:stretch>
            <a:fillRect/>
          </a:stretch>
        </p:blipFill>
        <p:spPr>
          <a:xfrm>
            <a:off x="760061" y="2319518"/>
            <a:ext cx="1039773" cy="1530787"/>
          </a:xfrm>
          <a:prstGeom prst="rect">
            <a:avLst/>
          </a:prstGeom>
        </p:spPr>
      </p:pic>
      <p:sp>
        <p:nvSpPr>
          <p:cNvPr id="5" name="Text 1"/>
          <p:cNvSpPr/>
          <p:nvPr/>
        </p:nvSpPr>
        <p:spPr>
          <a:xfrm>
            <a:off x="1998385" y="2399465"/>
            <a:ext cx="2599372" cy="324802"/>
          </a:xfrm>
          <a:prstGeom prst="rect">
            <a:avLst/>
          </a:prstGeom>
          <a:noFill/>
          <a:ln/>
        </p:spPr>
        <p:txBody>
          <a:bodyPr wrap="none" lIns="0" tIns="0" rIns="0" bIns="0" rtlCol="0" anchor="t"/>
          <a:lstStyle/>
          <a:p>
            <a:pPr marL="0" indent="0" algn="l">
              <a:lnSpc>
                <a:spcPts val="2550"/>
              </a:lnSpc>
              <a:buNone/>
            </a:pPr>
            <a:r>
              <a:rPr lang="en-US" sz="2000" b="1" dirty="0">
                <a:solidFill>
                  <a:srgbClr val="403C4E"/>
                </a:solidFill>
                <a:latin typeface="Merriweather Bold" pitchFamily="34" charset="0"/>
                <a:ea typeface="Merriweather Bold" pitchFamily="34" charset="-122"/>
                <a:cs typeface="Merriweather Bold" pitchFamily="34" charset="-120"/>
              </a:rPr>
              <a:t>Word-Level Focus</a:t>
            </a:r>
            <a:endParaRPr lang="en-US" sz="2000" dirty="0"/>
          </a:p>
        </p:txBody>
      </p:sp>
      <p:sp>
        <p:nvSpPr>
          <p:cNvPr id="6" name="Text 2"/>
          <p:cNvSpPr/>
          <p:nvPr/>
        </p:nvSpPr>
        <p:spPr>
          <a:xfrm>
            <a:off x="1998385" y="2904767"/>
            <a:ext cx="6336744" cy="665559"/>
          </a:xfrm>
          <a:prstGeom prst="rect">
            <a:avLst/>
          </a:prstGeom>
          <a:noFill/>
          <a:ln/>
        </p:spPr>
        <p:txBody>
          <a:bodyPr wrap="square" lIns="0" tIns="0" rIns="0" bIns="0" rtlCol="0" anchor="t"/>
          <a:lstStyle/>
          <a:p>
            <a:pPr marL="0" indent="0" algn="l">
              <a:lnSpc>
                <a:spcPts val="2600"/>
              </a:lnSpc>
              <a:buNone/>
            </a:pPr>
            <a:r>
              <a:rPr lang="en-US" sz="1600" dirty="0">
                <a:solidFill>
                  <a:srgbClr val="403C4E"/>
                </a:solidFill>
                <a:latin typeface="Open Sans" pitchFamily="34" charset="0"/>
                <a:ea typeface="Open Sans" pitchFamily="34" charset="-122"/>
                <a:cs typeface="Open Sans" pitchFamily="34" charset="-120"/>
              </a:rPr>
              <a:t>Over-reliance on word presence without handling contextual or semantic meaning of text.</a:t>
            </a:r>
            <a:endParaRPr lang="en-US" sz="1600" dirty="0"/>
          </a:p>
        </p:txBody>
      </p:sp>
      <p:pic>
        <p:nvPicPr>
          <p:cNvPr id="7" name="Image 2" descr="preencoded.png"/>
          <p:cNvPicPr>
            <a:picLocks noChangeAspect="1"/>
          </p:cNvPicPr>
          <p:nvPr/>
        </p:nvPicPr>
        <p:blipFill>
          <a:blip r:embed="rId4"/>
          <a:stretch>
            <a:fillRect/>
          </a:stretch>
        </p:blipFill>
        <p:spPr>
          <a:xfrm>
            <a:off x="8463364" y="2317326"/>
            <a:ext cx="1039773" cy="1530787"/>
          </a:xfrm>
          <a:prstGeom prst="rect">
            <a:avLst/>
          </a:prstGeom>
        </p:spPr>
      </p:pic>
      <p:sp>
        <p:nvSpPr>
          <p:cNvPr id="8" name="Text 3"/>
          <p:cNvSpPr/>
          <p:nvPr/>
        </p:nvSpPr>
        <p:spPr>
          <a:xfrm>
            <a:off x="9767769" y="2487219"/>
            <a:ext cx="3203496" cy="324802"/>
          </a:xfrm>
          <a:prstGeom prst="rect">
            <a:avLst/>
          </a:prstGeom>
          <a:noFill/>
          <a:ln/>
        </p:spPr>
        <p:txBody>
          <a:bodyPr wrap="none" lIns="0" tIns="0" rIns="0" bIns="0" rtlCol="0" anchor="t"/>
          <a:lstStyle/>
          <a:p>
            <a:pPr marL="0" indent="0" algn="l">
              <a:lnSpc>
                <a:spcPts val="2550"/>
              </a:lnSpc>
              <a:buNone/>
            </a:pPr>
            <a:r>
              <a:rPr lang="en-US" sz="2000" b="1" dirty="0">
                <a:solidFill>
                  <a:srgbClr val="403C4E"/>
                </a:solidFill>
                <a:latin typeface="Merriweather Bold" pitchFamily="34" charset="0"/>
                <a:ea typeface="Merriweather Bold" pitchFamily="34" charset="-122"/>
                <a:cs typeface="Merriweather Bold" pitchFamily="34" charset="-120"/>
              </a:rPr>
              <a:t>Preprocessing Simplicity</a:t>
            </a:r>
            <a:endParaRPr lang="en-US" sz="2000" dirty="0"/>
          </a:p>
        </p:txBody>
      </p:sp>
      <p:sp>
        <p:nvSpPr>
          <p:cNvPr id="9" name="Text 4"/>
          <p:cNvSpPr/>
          <p:nvPr/>
        </p:nvSpPr>
        <p:spPr>
          <a:xfrm>
            <a:off x="9767769" y="2901646"/>
            <a:ext cx="6336744" cy="665559"/>
          </a:xfrm>
          <a:prstGeom prst="rect">
            <a:avLst/>
          </a:prstGeom>
          <a:noFill/>
          <a:ln/>
        </p:spPr>
        <p:txBody>
          <a:bodyPr wrap="square" lIns="0" tIns="0" rIns="0" bIns="0" rtlCol="0" anchor="t"/>
          <a:lstStyle/>
          <a:p>
            <a:pPr marL="0" indent="0" algn="l">
              <a:lnSpc>
                <a:spcPts val="2600"/>
              </a:lnSpc>
              <a:buNone/>
            </a:pPr>
            <a:r>
              <a:rPr lang="en-US" sz="1600" dirty="0">
                <a:solidFill>
                  <a:srgbClr val="403C4E"/>
                </a:solidFill>
                <a:latin typeface="Open Sans" pitchFamily="34" charset="0"/>
                <a:ea typeface="Open Sans" pitchFamily="34" charset="-122"/>
                <a:cs typeface="Open Sans" pitchFamily="34" charset="-120"/>
              </a:rPr>
              <a:t>Stemming can remove necessary word distinctions </a:t>
            </a:r>
          </a:p>
          <a:p>
            <a:pPr marL="0" indent="0" algn="l">
              <a:lnSpc>
                <a:spcPts val="2600"/>
              </a:lnSpc>
              <a:buNone/>
            </a:pPr>
            <a:r>
              <a:rPr lang="en-US" sz="1600" dirty="0">
                <a:solidFill>
                  <a:srgbClr val="403C4E"/>
                </a:solidFill>
                <a:latin typeface="Open Sans" pitchFamily="34" charset="0"/>
                <a:ea typeface="Open Sans" pitchFamily="34" charset="-122"/>
                <a:cs typeface="Open Sans" pitchFamily="34" charset="-120"/>
              </a:rPr>
              <a:t>that might be important for classification.</a:t>
            </a:r>
            <a:endParaRPr lang="en-US" sz="1600" dirty="0"/>
          </a:p>
        </p:txBody>
      </p:sp>
      <p:pic>
        <p:nvPicPr>
          <p:cNvPr id="10" name="Image 3" descr="preencoded.png"/>
          <p:cNvPicPr>
            <a:picLocks noChangeAspect="1"/>
          </p:cNvPicPr>
          <p:nvPr/>
        </p:nvPicPr>
        <p:blipFill>
          <a:blip r:embed="rId5"/>
          <a:stretch>
            <a:fillRect/>
          </a:stretch>
        </p:blipFill>
        <p:spPr>
          <a:xfrm>
            <a:off x="727829" y="5252918"/>
            <a:ext cx="1039773" cy="1530787"/>
          </a:xfrm>
          <a:prstGeom prst="rect">
            <a:avLst/>
          </a:prstGeom>
        </p:spPr>
      </p:pic>
      <p:sp>
        <p:nvSpPr>
          <p:cNvPr id="11" name="Text 5"/>
          <p:cNvSpPr/>
          <p:nvPr/>
        </p:nvSpPr>
        <p:spPr>
          <a:xfrm>
            <a:off x="2079427" y="5372697"/>
            <a:ext cx="3413046" cy="324802"/>
          </a:xfrm>
          <a:prstGeom prst="rect">
            <a:avLst/>
          </a:prstGeom>
          <a:noFill/>
          <a:ln/>
        </p:spPr>
        <p:txBody>
          <a:bodyPr wrap="none" lIns="0" tIns="0" rIns="0" bIns="0" rtlCol="0" anchor="t"/>
          <a:lstStyle/>
          <a:p>
            <a:pPr marL="0" indent="0" algn="l">
              <a:lnSpc>
                <a:spcPts val="2550"/>
              </a:lnSpc>
              <a:buNone/>
            </a:pPr>
            <a:r>
              <a:rPr lang="en-US" sz="2000" b="1" dirty="0">
                <a:solidFill>
                  <a:srgbClr val="403C4E"/>
                </a:solidFill>
                <a:latin typeface="Merriweather Bold" pitchFamily="34" charset="0"/>
                <a:ea typeface="Merriweather Bold" pitchFamily="34" charset="-122"/>
                <a:cs typeface="Merriweather Bold" pitchFamily="34" charset="-120"/>
              </a:rPr>
              <a:t>No Context Understanding</a:t>
            </a:r>
            <a:endParaRPr lang="en-US" sz="2000" dirty="0"/>
          </a:p>
        </p:txBody>
      </p:sp>
      <p:sp>
        <p:nvSpPr>
          <p:cNvPr id="12" name="Text 6"/>
          <p:cNvSpPr/>
          <p:nvPr/>
        </p:nvSpPr>
        <p:spPr>
          <a:xfrm>
            <a:off x="2079427" y="5918477"/>
            <a:ext cx="6336744" cy="665559"/>
          </a:xfrm>
          <a:prstGeom prst="rect">
            <a:avLst/>
          </a:prstGeom>
          <a:noFill/>
          <a:ln/>
        </p:spPr>
        <p:txBody>
          <a:bodyPr wrap="square" lIns="0" tIns="0" rIns="0" bIns="0" rtlCol="0" anchor="t"/>
          <a:lstStyle/>
          <a:p>
            <a:pPr marL="0" indent="0" algn="l">
              <a:lnSpc>
                <a:spcPts val="2600"/>
              </a:lnSpc>
              <a:buNone/>
            </a:pPr>
            <a:r>
              <a:rPr lang="en-US" sz="1600" dirty="0">
                <a:solidFill>
                  <a:srgbClr val="403C4E"/>
                </a:solidFill>
                <a:latin typeface="Open Sans" pitchFamily="34" charset="0"/>
                <a:ea typeface="Open Sans" pitchFamily="34" charset="-122"/>
                <a:cs typeface="Open Sans" pitchFamily="34" charset="-120"/>
              </a:rPr>
              <a:t>Cannot detect advanced spam with hidden meanings or image-based content.</a:t>
            </a:r>
            <a:endParaRPr lang="en-US" sz="1600" dirty="0"/>
          </a:p>
        </p:txBody>
      </p:sp>
      <p:pic>
        <p:nvPicPr>
          <p:cNvPr id="13" name="Image 4" descr="preencoded.png"/>
          <p:cNvPicPr>
            <a:picLocks noChangeAspect="1"/>
          </p:cNvPicPr>
          <p:nvPr/>
        </p:nvPicPr>
        <p:blipFill>
          <a:blip r:embed="rId6"/>
          <a:stretch>
            <a:fillRect/>
          </a:stretch>
        </p:blipFill>
        <p:spPr>
          <a:xfrm>
            <a:off x="8463364" y="5053249"/>
            <a:ext cx="1039773" cy="1530787"/>
          </a:xfrm>
          <a:prstGeom prst="rect">
            <a:avLst/>
          </a:prstGeom>
        </p:spPr>
      </p:pic>
      <p:sp>
        <p:nvSpPr>
          <p:cNvPr id="14" name="Text 7"/>
          <p:cNvSpPr/>
          <p:nvPr/>
        </p:nvSpPr>
        <p:spPr>
          <a:xfrm>
            <a:off x="9767769" y="5227504"/>
            <a:ext cx="2923599" cy="469995"/>
          </a:xfrm>
          <a:prstGeom prst="rect">
            <a:avLst/>
          </a:prstGeom>
          <a:noFill/>
          <a:ln/>
        </p:spPr>
        <p:txBody>
          <a:bodyPr wrap="none" lIns="0" tIns="0" rIns="0" bIns="0" rtlCol="0" anchor="t"/>
          <a:lstStyle/>
          <a:p>
            <a:pPr marL="0" indent="0" algn="l">
              <a:lnSpc>
                <a:spcPts val="2550"/>
              </a:lnSpc>
              <a:buNone/>
            </a:pPr>
            <a:r>
              <a:rPr lang="en-US" sz="2000" b="1" dirty="0">
                <a:solidFill>
                  <a:srgbClr val="403C4E"/>
                </a:solidFill>
                <a:latin typeface="Merriweather Bold" pitchFamily="34" charset="0"/>
                <a:ea typeface="Merriweather Bold" pitchFamily="34" charset="-122"/>
                <a:cs typeface="Merriweather Bold" pitchFamily="34" charset="-120"/>
              </a:rPr>
              <a:t>Fixed Vocabulary</a:t>
            </a:r>
            <a:endParaRPr lang="en-US" sz="2000" dirty="0"/>
          </a:p>
        </p:txBody>
      </p:sp>
      <p:sp>
        <p:nvSpPr>
          <p:cNvPr id="15" name="Text 8"/>
          <p:cNvSpPr/>
          <p:nvPr/>
        </p:nvSpPr>
        <p:spPr>
          <a:xfrm>
            <a:off x="9767769" y="5818642"/>
            <a:ext cx="6336744" cy="665559"/>
          </a:xfrm>
          <a:prstGeom prst="rect">
            <a:avLst/>
          </a:prstGeom>
          <a:noFill/>
          <a:ln/>
        </p:spPr>
        <p:txBody>
          <a:bodyPr wrap="square" lIns="0" tIns="0" rIns="0" bIns="0" rtlCol="0" anchor="t"/>
          <a:lstStyle/>
          <a:p>
            <a:pPr marL="0" indent="0" algn="l">
              <a:lnSpc>
                <a:spcPts val="2600"/>
              </a:lnSpc>
              <a:buNone/>
            </a:pPr>
            <a:r>
              <a:rPr lang="en-US" sz="1600" dirty="0">
                <a:solidFill>
                  <a:srgbClr val="403C4E"/>
                </a:solidFill>
                <a:latin typeface="Open Sans" pitchFamily="34" charset="0"/>
                <a:ea typeface="Open Sans" pitchFamily="34" charset="-122"/>
                <a:cs typeface="Open Sans" pitchFamily="34" charset="-120"/>
              </a:rPr>
              <a:t>Unknown words encountered during inference</a:t>
            </a:r>
          </a:p>
          <a:p>
            <a:pPr marL="0" indent="0" algn="l">
              <a:lnSpc>
                <a:spcPts val="2600"/>
              </a:lnSpc>
              <a:buNone/>
            </a:pPr>
            <a:r>
              <a:rPr lang="en-US" sz="1600" dirty="0">
                <a:solidFill>
                  <a:srgbClr val="403C4E"/>
                </a:solidFill>
                <a:latin typeface="Open Sans" pitchFamily="34" charset="0"/>
                <a:ea typeface="Open Sans" pitchFamily="34" charset="-122"/>
                <a:cs typeface="Open Sans" pitchFamily="34" charset="-120"/>
              </a:rPr>
              <a:t> are ignored, limiting adaptability.</a:t>
            </a:r>
            <a:endParaRPr lang="en-US" sz="1600" dirty="0"/>
          </a:p>
        </p:txBody>
      </p:sp>
      <p:sp>
        <p:nvSpPr>
          <p:cNvPr id="16" name="Rectangle 15">
            <a:extLst>
              <a:ext uri="{FF2B5EF4-FFF2-40B4-BE49-F238E27FC236}">
                <a16:creationId xmlns:a16="http://schemas.microsoft.com/office/drawing/2014/main" id="{4F19D9C1-7886-B098-06D9-49CF6D70EDF4}"/>
              </a:ext>
            </a:extLst>
          </p:cNvPr>
          <p:cNvSpPr/>
          <p:nvPr/>
        </p:nvSpPr>
        <p:spPr>
          <a:xfrm>
            <a:off x="12533971" y="7549376"/>
            <a:ext cx="1996068" cy="557561"/>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652105" y="660678"/>
            <a:ext cx="5080278" cy="582335"/>
          </a:xfrm>
          <a:prstGeom prst="rect">
            <a:avLst/>
          </a:prstGeom>
          <a:noFill/>
          <a:ln/>
        </p:spPr>
        <p:txBody>
          <a:bodyPr wrap="none" lIns="0" tIns="0" rIns="0" bIns="0" rtlCol="0" anchor="t"/>
          <a:lstStyle/>
          <a:p>
            <a:pPr marL="0" indent="0" algn="l">
              <a:lnSpc>
                <a:spcPts val="4550"/>
              </a:lnSpc>
              <a:buNone/>
            </a:pPr>
            <a:r>
              <a:rPr lang="en-US" sz="3650" b="1" dirty="0">
                <a:solidFill>
                  <a:srgbClr val="403C4E"/>
                </a:solidFill>
                <a:latin typeface="Merriweather Bold" pitchFamily="34" charset="0"/>
                <a:ea typeface="Merriweather Bold" pitchFamily="34" charset="-122"/>
                <a:cs typeface="Merriweather Bold" pitchFamily="34" charset="-120"/>
              </a:rPr>
              <a:t>Future Enhancements</a:t>
            </a:r>
            <a:endParaRPr lang="en-US" sz="3650" dirty="0"/>
          </a:p>
        </p:txBody>
      </p:sp>
      <p:sp>
        <p:nvSpPr>
          <p:cNvPr id="4" name="Shape 1"/>
          <p:cNvSpPr/>
          <p:nvPr/>
        </p:nvSpPr>
        <p:spPr>
          <a:xfrm>
            <a:off x="861655" y="1522452"/>
            <a:ext cx="22860" cy="6046351"/>
          </a:xfrm>
          <a:prstGeom prst="roundRect">
            <a:avLst>
              <a:gd name="adj" fmla="val 342368"/>
            </a:avLst>
          </a:prstGeom>
          <a:solidFill>
            <a:srgbClr val="E5BEB2"/>
          </a:solidFill>
          <a:ln/>
        </p:spPr>
        <p:txBody>
          <a:bodyPr/>
          <a:lstStyle/>
          <a:p>
            <a:endParaRPr lang="en-US"/>
          </a:p>
        </p:txBody>
      </p:sp>
      <p:sp>
        <p:nvSpPr>
          <p:cNvPr id="5" name="Shape 2"/>
          <p:cNvSpPr/>
          <p:nvPr/>
        </p:nvSpPr>
        <p:spPr>
          <a:xfrm>
            <a:off x="1048405" y="1930122"/>
            <a:ext cx="558998" cy="22860"/>
          </a:xfrm>
          <a:prstGeom prst="roundRect">
            <a:avLst>
              <a:gd name="adj" fmla="val 342368"/>
            </a:avLst>
          </a:prstGeom>
          <a:solidFill>
            <a:srgbClr val="E5BEB2"/>
          </a:solidFill>
          <a:ln/>
        </p:spPr>
        <p:txBody>
          <a:bodyPr/>
          <a:lstStyle/>
          <a:p>
            <a:endParaRPr lang="en-US"/>
          </a:p>
        </p:txBody>
      </p:sp>
      <p:sp>
        <p:nvSpPr>
          <p:cNvPr id="6" name="Shape 3"/>
          <p:cNvSpPr/>
          <p:nvPr/>
        </p:nvSpPr>
        <p:spPr>
          <a:xfrm>
            <a:off x="652046" y="1732002"/>
            <a:ext cx="419219" cy="419219"/>
          </a:xfrm>
          <a:prstGeom prst="roundRect">
            <a:avLst>
              <a:gd name="adj" fmla="val 18669"/>
            </a:avLst>
          </a:prstGeom>
          <a:solidFill>
            <a:srgbClr val="FFD8CC"/>
          </a:solidFill>
          <a:ln w="7620">
            <a:solidFill>
              <a:srgbClr val="E5BEB2"/>
            </a:solidFill>
            <a:prstDash val="solid"/>
          </a:ln>
        </p:spPr>
        <p:txBody>
          <a:bodyPr/>
          <a:lstStyle/>
          <a:p>
            <a:endParaRPr lang="en-US"/>
          </a:p>
        </p:txBody>
      </p:sp>
      <p:pic>
        <p:nvPicPr>
          <p:cNvPr id="7" name="Image 1" descr="preencoded.png"/>
          <p:cNvPicPr>
            <a:picLocks noChangeAspect="1"/>
          </p:cNvPicPr>
          <p:nvPr/>
        </p:nvPicPr>
        <p:blipFill>
          <a:blip r:embed="rId4"/>
          <a:stretch>
            <a:fillRect/>
          </a:stretch>
        </p:blipFill>
        <p:spPr>
          <a:xfrm>
            <a:off x="721876" y="1766888"/>
            <a:ext cx="279440" cy="349329"/>
          </a:xfrm>
          <a:prstGeom prst="rect">
            <a:avLst/>
          </a:prstGeom>
        </p:spPr>
      </p:pic>
      <p:sp>
        <p:nvSpPr>
          <p:cNvPr id="8" name="Text 4"/>
          <p:cNvSpPr/>
          <p:nvPr/>
        </p:nvSpPr>
        <p:spPr>
          <a:xfrm>
            <a:off x="1793438" y="1708785"/>
            <a:ext cx="2329220" cy="291108"/>
          </a:xfrm>
          <a:prstGeom prst="rect">
            <a:avLst/>
          </a:prstGeom>
          <a:noFill/>
          <a:ln/>
        </p:spPr>
        <p:txBody>
          <a:bodyPr wrap="none" lIns="0" tIns="0" rIns="0" bIns="0" rtlCol="0" anchor="t"/>
          <a:lstStyle/>
          <a:p>
            <a:pPr marL="0" indent="0" algn="l">
              <a:lnSpc>
                <a:spcPts val="2250"/>
              </a:lnSpc>
              <a:buNone/>
            </a:pPr>
            <a:r>
              <a:rPr lang="en-US" sz="1800" b="1" dirty="0">
                <a:solidFill>
                  <a:srgbClr val="403C4E"/>
                </a:solidFill>
                <a:latin typeface="Merriweather Bold" pitchFamily="34" charset="0"/>
                <a:ea typeface="Merriweather Bold" pitchFamily="34" charset="-122"/>
                <a:cs typeface="Merriweather Bold" pitchFamily="34" charset="-120"/>
              </a:rPr>
              <a:t>Advanced NLP</a:t>
            </a:r>
            <a:endParaRPr lang="en-US" sz="1800" dirty="0"/>
          </a:p>
        </p:txBody>
      </p:sp>
      <p:sp>
        <p:nvSpPr>
          <p:cNvPr id="9" name="Text 5"/>
          <p:cNvSpPr/>
          <p:nvPr/>
        </p:nvSpPr>
        <p:spPr>
          <a:xfrm>
            <a:off x="1793438" y="2111693"/>
            <a:ext cx="6698456" cy="596265"/>
          </a:xfrm>
          <a:prstGeom prst="rect">
            <a:avLst/>
          </a:prstGeom>
          <a:noFill/>
          <a:ln/>
        </p:spPr>
        <p:txBody>
          <a:bodyPr wrap="square" lIns="0" tIns="0" rIns="0" bIns="0" rtlCol="0" anchor="t"/>
          <a:lstStyle/>
          <a:p>
            <a:pPr marL="0" indent="0" algn="l">
              <a:lnSpc>
                <a:spcPts val="2300"/>
              </a:lnSpc>
              <a:buNone/>
            </a:pPr>
            <a:r>
              <a:rPr lang="en-US" sz="1450" dirty="0">
                <a:solidFill>
                  <a:srgbClr val="403C4E"/>
                </a:solidFill>
                <a:latin typeface="Open Sans" pitchFamily="34" charset="0"/>
                <a:ea typeface="Open Sans" pitchFamily="34" charset="-122"/>
                <a:cs typeface="Open Sans" pitchFamily="34" charset="-120"/>
              </a:rPr>
              <a:t>Implement lemmatization instead of stemming to better retain semantic meaning. Add multilingual support for broader coverage of spam emails.</a:t>
            </a:r>
            <a:endParaRPr lang="en-US" sz="1450" dirty="0"/>
          </a:p>
        </p:txBody>
      </p:sp>
      <p:sp>
        <p:nvSpPr>
          <p:cNvPr id="10" name="Shape 6"/>
          <p:cNvSpPr/>
          <p:nvPr/>
        </p:nvSpPr>
        <p:spPr>
          <a:xfrm>
            <a:off x="1048405" y="3488293"/>
            <a:ext cx="558998" cy="22860"/>
          </a:xfrm>
          <a:prstGeom prst="roundRect">
            <a:avLst>
              <a:gd name="adj" fmla="val 342368"/>
            </a:avLst>
          </a:prstGeom>
          <a:solidFill>
            <a:srgbClr val="E5BEB2"/>
          </a:solidFill>
          <a:ln/>
        </p:spPr>
        <p:txBody>
          <a:bodyPr/>
          <a:lstStyle/>
          <a:p>
            <a:endParaRPr lang="en-US"/>
          </a:p>
        </p:txBody>
      </p:sp>
      <p:sp>
        <p:nvSpPr>
          <p:cNvPr id="11" name="Shape 7"/>
          <p:cNvSpPr/>
          <p:nvPr/>
        </p:nvSpPr>
        <p:spPr>
          <a:xfrm>
            <a:off x="652046" y="3290173"/>
            <a:ext cx="419219" cy="419219"/>
          </a:xfrm>
          <a:prstGeom prst="roundRect">
            <a:avLst>
              <a:gd name="adj" fmla="val 18669"/>
            </a:avLst>
          </a:prstGeom>
          <a:solidFill>
            <a:srgbClr val="FFD8CC"/>
          </a:solidFill>
          <a:ln w="7620">
            <a:solidFill>
              <a:srgbClr val="E5BEB2"/>
            </a:solidFill>
            <a:prstDash val="solid"/>
          </a:ln>
        </p:spPr>
        <p:txBody>
          <a:bodyPr/>
          <a:lstStyle/>
          <a:p>
            <a:endParaRPr lang="en-US"/>
          </a:p>
        </p:txBody>
      </p:sp>
      <p:pic>
        <p:nvPicPr>
          <p:cNvPr id="12" name="Image 2" descr="preencoded.png"/>
          <p:cNvPicPr>
            <a:picLocks noChangeAspect="1"/>
          </p:cNvPicPr>
          <p:nvPr/>
        </p:nvPicPr>
        <p:blipFill>
          <a:blip r:embed="rId5"/>
          <a:stretch>
            <a:fillRect/>
          </a:stretch>
        </p:blipFill>
        <p:spPr>
          <a:xfrm>
            <a:off x="721876" y="3325058"/>
            <a:ext cx="279440" cy="349329"/>
          </a:xfrm>
          <a:prstGeom prst="rect">
            <a:avLst/>
          </a:prstGeom>
        </p:spPr>
      </p:pic>
      <p:sp>
        <p:nvSpPr>
          <p:cNvPr id="13" name="Text 8"/>
          <p:cNvSpPr/>
          <p:nvPr/>
        </p:nvSpPr>
        <p:spPr>
          <a:xfrm>
            <a:off x="1793438" y="3266956"/>
            <a:ext cx="2329220" cy="291108"/>
          </a:xfrm>
          <a:prstGeom prst="rect">
            <a:avLst/>
          </a:prstGeom>
          <a:noFill/>
          <a:ln/>
        </p:spPr>
        <p:txBody>
          <a:bodyPr wrap="none" lIns="0" tIns="0" rIns="0" bIns="0" rtlCol="0" anchor="t"/>
          <a:lstStyle/>
          <a:p>
            <a:pPr marL="0" indent="0" algn="l">
              <a:lnSpc>
                <a:spcPts val="2250"/>
              </a:lnSpc>
              <a:buNone/>
            </a:pPr>
            <a:r>
              <a:rPr lang="en-US" sz="1800" b="1" dirty="0">
                <a:solidFill>
                  <a:srgbClr val="403C4E"/>
                </a:solidFill>
                <a:latin typeface="Merriweather Bold" pitchFamily="34" charset="0"/>
                <a:ea typeface="Merriweather Bold" pitchFamily="34" charset="-122"/>
                <a:cs typeface="Merriweather Bold" pitchFamily="34" charset="-120"/>
              </a:rPr>
              <a:t>Deep Learning</a:t>
            </a:r>
            <a:endParaRPr lang="en-US" sz="1800" dirty="0"/>
          </a:p>
        </p:txBody>
      </p:sp>
      <p:sp>
        <p:nvSpPr>
          <p:cNvPr id="14" name="Text 9"/>
          <p:cNvSpPr/>
          <p:nvPr/>
        </p:nvSpPr>
        <p:spPr>
          <a:xfrm>
            <a:off x="1793438" y="3669863"/>
            <a:ext cx="6698456" cy="596265"/>
          </a:xfrm>
          <a:prstGeom prst="rect">
            <a:avLst/>
          </a:prstGeom>
          <a:noFill/>
          <a:ln/>
        </p:spPr>
        <p:txBody>
          <a:bodyPr wrap="square" lIns="0" tIns="0" rIns="0" bIns="0" rtlCol="0" anchor="t"/>
          <a:lstStyle/>
          <a:p>
            <a:pPr marL="0" indent="0" algn="l">
              <a:lnSpc>
                <a:spcPts val="2300"/>
              </a:lnSpc>
              <a:buNone/>
            </a:pPr>
            <a:r>
              <a:rPr lang="en-US" sz="1450" dirty="0">
                <a:solidFill>
                  <a:srgbClr val="403C4E"/>
                </a:solidFill>
                <a:latin typeface="Open Sans" pitchFamily="34" charset="0"/>
                <a:ea typeface="Open Sans" pitchFamily="34" charset="-122"/>
                <a:cs typeface="Open Sans" pitchFamily="34" charset="-120"/>
              </a:rPr>
              <a:t>Integrate transformer models like BERT or RoBERTa for deeper contextual understanding of messages.</a:t>
            </a:r>
            <a:endParaRPr lang="en-US" sz="1450" dirty="0"/>
          </a:p>
        </p:txBody>
      </p:sp>
      <p:sp>
        <p:nvSpPr>
          <p:cNvPr id="15" name="Shape 10"/>
          <p:cNvSpPr/>
          <p:nvPr/>
        </p:nvSpPr>
        <p:spPr>
          <a:xfrm>
            <a:off x="1048405" y="5046464"/>
            <a:ext cx="558998" cy="22860"/>
          </a:xfrm>
          <a:prstGeom prst="roundRect">
            <a:avLst>
              <a:gd name="adj" fmla="val 342368"/>
            </a:avLst>
          </a:prstGeom>
          <a:solidFill>
            <a:srgbClr val="E5BEB2"/>
          </a:solidFill>
          <a:ln/>
        </p:spPr>
        <p:txBody>
          <a:bodyPr/>
          <a:lstStyle/>
          <a:p>
            <a:endParaRPr lang="en-US"/>
          </a:p>
        </p:txBody>
      </p:sp>
      <p:sp>
        <p:nvSpPr>
          <p:cNvPr id="16" name="Shape 11"/>
          <p:cNvSpPr/>
          <p:nvPr/>
        </p:nvSpPr>
        <p:spPr>
          <a:xfrm>
            <a:off x="652046" y="4848344"/>
            <a:ext cx="419219" cy="419219"/>
          </a:xfrm>
          <a:prstGeom prst="roundRect">
            <a:avLst>
              <a:gd name="adj" fmla="val 18669"/>
            </a:avLst>
          </a:prstGeom>
          <a:solidFill>
            <a:srgbClr val="FFD8CC"/>
          </a:solidFill>
          <a:ln w="7620">
            <a:solidFill>
              <a:srgbClr val="E5BEB2"/>
            </a:solidFill>
            <a:prstDash val="solid"/>
          </a:ln>
        </p:spPr>
        <p:txBody>
          <a:bodyPr/>
          <a:lstStyle/>
          <a:p>
            <a:endParaRPr lang="en-US"/>
          </a:p>
        </p:txBody>
      </p:sp>
      <p:pic>
        <p:nvPicPr>
          <p:cNvPr id="17" name="Image 3" descr="preencoded.png"/>
          <p:cNvPicPr>
            <a:picLocks noChangeAspect="1"/>
          </p:cNvPicPr>
          <p:nvPr/>
        </p:nvPicPr>
        <p:blipFill>
          <a:blip r:embed="rId6"/>
          <a:stretch>
            <a:fillRect/>
          </a:stretch>
        </p:blipFill>
        <p:spPr>
          <a:xfrm>
            <a:off x="721876" y="4883229"/>
            <a:ext cx="279440" cy="349329"/>
          </a:xfrm>
          <a:prstGeom prst="rect">
            <a:avLst/>
          </a:prstGeom>
        </p:spPr>
      </p:pic>
      <p:sp>
        <p:nvSpPr>
          <p:cNvPr id="18" name="Text 12"/>
          <p:cNvSpPr/>
          <p:nvPr/>
        </p:nvSpPr>
        <p:spPr>
          <a:xfrm>
            <a:off x="1793438" y="4825127"/>
            <a:ext cx="2437924" cy="291108"/>
          </a:xfrm>
          <a:prstGeom prst="rect">
            <a:avLst/>
          </a:prstGeom>
          <a:noFill/>
          <a:ln/>
        </p:spPr>
        <p:txBody>
          <a:bodyPr wrap="none" lIns="0" tIns="0" rIns="0" bIns="0" rtlCol="0" anchor="t"/>
          <a:lstStyle/>
          <a:p>
            <a:pPr marL="0" indent="0" algn="l">
              <a:lnSpc>
                <a:spcPts val="2250"/>
              </a:lnSpc>
              <a:buNone/>
            </a:pPr>
            <a:r>
              <a:rPr lang="en-US" sz="1800" b="1" dirty="0">
                <a:solidFill>
                  <a:srgbClr val="403C4E"/>
                </a:solidFill>
                <a:latin typeface="Merriweather Bold" pitchFamily="34" charset="0"/>
                <a:ea typeface="Merriweather Bold" pitchFamily="34" charset="-122"/>
                <a:cs typeface="Merriweather Bold" pitchFamily="34" charset="-120"/>
              </a:rPr>
              <a:t>Continuous Learning</a:t>
            </a:r>
            <a:endParaRPr lang="en-US" sz="1800" dirty="0"/>
          </a:p>
        </p:txBody>
      </p:sp>
      <p:sp>
        <p:nvSpPr>
          <p:cNvPr id="19" name="Text 13"/>
          <p:cNvSpPr/>
          <p:nvPr/>
        </p:nvSpPr>
        <p:spPr>
          <a:xfrm>
            <a:off x="1793438" y="5228034"/>
            <a:ext cx="6698456" cy="596265"/>
          </a:xfrm>
          <a:prstGeom prst="rect">
            <a:avLst/>
          </a:prstGeom>
          <a:noFill/>
          <a:ln/>
        </p:spPr>
        <p:txBody>
          <a:bodyPr wrap="square" lIns="0" tIns="0" rIns="0" bIns="0" rtlCol="0" anchor="t"/>
          <a:lstStyle/>
          <a:p>
            <a:pPr marL="0" indent="0" algn="l">
              <a:lnSpc>
                <a:spcPts val="2300"/>
              </a:lnSpc>
              <a:buNone/>
            </a:pPr>
            <a:r>
              <a:rPr lang="en-US" sz="1450" dirty="0">
                <a:solidFill>
                  <a:srgbClr val="403C4E"/>
                </a:solidFill>
                <a:latin typeface="Open Sans" pitchFamily="34" charset="0"/>
                <a:ea typeface="Open Sans" pitchFamily="34" charset="-122"/>
                <a:cs typeface="Open Sans" pitchFamily="34" charset="-120"/>
              </a:rPr>
              <a:t>Incorporate active learning with user feedback to update and improve the model continuously.</a:t>
            </a:r>
            <a:endParaRPr lang="en-US" sz="1450" dirty="0"/>
          </a:p>
        </p:txBody>
      </p:sp>
      <p:sp>
        <p:nvSpPr>
          <p:cNvPr id="20" name="Shape 14"/>
          <p:cNvSpPr/>
          <p:nvPr/>
        </p:nvSpPr>
        <p:spPr>
          <a:xfrm>
            <a:off x="1048405" y="6604635"/>
            <a:ext cx="558998" cy="22860"/>
          </a:xfrm>
          <a:prstGeom prst="roundRect">
            <a:avLst>
              <a:gd name="adj" fmla="val 342368"/>
            </a:avLst>
          </a:prstGeom>
          <a:solidFill>
            <a:srgbClr val="E5BEB2"/>
          </a:solidFill>
          <a:ln/>
        </p:spPr>
        <p:txBody>
          <a:bodyPr/>
          <a:lstStyle/>
          <a:p>
            <a:endParaRPr lang="en-US"/>
          </a:p>
        </p:txBody>
      </p:sp>
      <p:sp>
        <p:nvSpPr>
          <p:cNvPr id="21" name="Shape 15"/>
          <p:cNvSpPr/>
          <p:nvPr/>
        </p:nvSpPr>
        <p:spPr>
          <a:xfrm>
            <a:off x="652046" y="6406515"/>
            <a:ext cx="419219" cy="419219"/>
          </a:xfrm>
          <a:prstGeom prst="roundRect">
            <a:avLst>
              <a:gd name="adj" fmla="val 18669"/>
            </a:avLst>
          </a:prstGeom>
          <a:solidFill>
            <a:srgbClr val="FFD8CC"/>
          </a:solidFill>
          <a:ln w="7620">
            <a:solidFill>
              <a:srgbClr val="E5BEB2"/>
            </a:solidFill>
            <a:prstDash val="solid"/>
          </a:ln>
        </p:spPr>
        <p:txBody>
          <a:bodyPr/>
          <a:lstStyle/>
          <a:p>
            <a:endParaRPr lang="en-US"/>
          </a:p>
        </p:txBody>
      </p:sp>
      <p:pic>
        <p:nvPicPr>
          <p:cNvPr id="22" name="Image 4" descr="preencoded.png"/>
          <p:cNvPicPr>
            <a:picLocks noChangeAspect="1"/>
          </p:cNvPicPr>
          <p:nvPr/>
        </p:nvPicPr>
        <p:blipFill>
          <a:blip r:embed="rId7"/>
          <a:stretch>
            <a:fillRect/>
          </a:stretch>
        </p:blipFill>
        <p:spPr>
          <a:xfrm>
            <a:off x="721876" y="6441400"/>
            <a:ext cx="279440" cy="349329"/>
          </a:xfrm>
          <a:prstGeom prst="rect">
            <a:avLst/>
          </a:prstGeom>
        </p:spPr>
      </p:pic>
      <p:sp>
        <p:nvSpPr>
          <p:cNvPr id="23" name="Text 16"/>
          <p:cNvSpPr/>
          <p:nvPr/>
        </p:nvSpPr>
        <p:spPr>
          <a:xfrm>
            <a:off x="1793438" y="6383298"/>
            <a:ext cx="2650331" cy="291108"/>
          </a:xfrm>
          <a:prstGeom prst="rect">
            <a:avLst/>
          </a:prstGeom>
          <a:noFill/>
          <a:ln/>
        </p:spPr>
        <p:txBody>
          <a:bodyPr wrap="none" lIns="0" tIns="0" rIns="0" bIns="0" rtlCol="0" anchor="t"/>
          <a:lstStyle/>
          <a:p>
            <a:pPr marL="0" indent="0" algn="l">
              <a:lnSpc>
                <a:spcPts val="2250"/>
              </a:lnSpc>
              <a:buNone/>
            </a:pPr>
            <a:r>
              <a:rPr lang="en-US" sz="1800" b="1" dirty="0">
                <a:solidFill>
                  <a:srgbClr val="403C4E"/>
                </a:solidFill>
                <a:latin typeface="Merriweather Bold" pitchFamily="34" charset="0"/>
                <a:ea typeface="Merriweather Bold" pitchFamily="34" charset="-122"/>
                <a:cs typeface="Merriweather Bold" pitchFamily="34" charset="-120"/>
              </a:rPr>
              <a:t>Better Representations</a:t>
            </a:r>
            <a:endParaRPr lang="en-US" sz="1800" dirty="0"/>
          </a:p>
        </p:txBody>
      </p:sp>
      <p:sp>
        <p:nvSpPr>
          <p:cNvPr id="24" name="Text 17"/>
          <p:cNvSpPr/>
          <p:nvPr/>
        </p:nvSpPr>
        <p:spPr>
          <a:xfrm>
            <a:off x="1793438" y="6786205"/>
            <a:ext cx="6698456" cy="596265"/>
          </a:xfrm>
          <a:prstGeom prst="rect">
            <a:avLst/>
          </a:prstGeom>
          <a:noFill/>
          <a:ln/>
        </p:spPr>
        <p:txBody>
          <a:bodyPr wrap="square" lIns="0" tIns="0" rIns="0" bIns="0" rtlCol="0" anchor="t"/>
          <a:lstStyle/>
          <a:p>
            <a:pPr marL="0" indent="0" algn="l">
              <a:lnSpc>
                <a:spcPts val="2300"/>
              </a:lnSpc>
              <a:buNone/>
            </a:pPr>
            <a:r>
              <a:rPr lang="en-US" sz="1450" dirty="0">
                <a:solidFill>
                  <a:srgbClr val="403C4E"/>
                </a:solidFill>
                <a:latin typeface="Open Sans" pitchFamily="34" charset="0"/>
                <a:ea typeface="Open Sans" pitchFamily="34" charset="-122"/>
                <a:cs typeface="Open Sans" pitchFamily="34" charset="-120"/>
              </a:rPr>
              <a:t>Use word embeddings like Word2Vec or GloVe instead of TF-IDF for improved text representation.</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71011" y="370046"/>
            <a:ext cx="5382578" cy="420529"/>
          </a:xfrm>
          <a:prstGeom prst="rect">
            <a:avLst/>
          </a:prstGeom>
          <a:noFill/>
          <a:ln/>
        </p:spPr>
        <p:txBody>
          <a:bodyPr wrap="none" lIns="0" tIns="0" rIns="0" bIns="0" rtlCol="0" anchor="t"/>
          <a:lstStyle/>
          <a:p>
            <a:pPr marL="0" indent="0" algn="l">
              <a:lnSpc>
                <a:spcPts val="3300"/>
              </a:lnSpc>
              <a:buNone/>
            </a:pPr>
            <a:r>
              <a:rPr lang="en-US" sz="2600" b="1" dirty="0">
                <a:solidFill>
                  <a:srgbClr val="403C4E"/>
                </a:solidFill>
                <a:latin typeface="Merriweather Bold" pitchFamily="34" charset="0"/>
                <a:ea typeface="Merriweather Bold" pitchFamily="34" charset="-122"/>
                <a:cs typeface="Merriweather Bold" pitchFamily="34" charset="-120"/>
              </a:rPr>
              <a:t>Model Performance Comparison</a:t>
            </a:r>
            <a:endParaRPr lang="en-US" sz="2600" dirty="0"/>
          </a:p>
        </p:txBody>
      </p:sp>
      <p:sp>
        <p:nvSpPr>
          <p:cNvPr id="7" name="Text 4"/>
          <p:cNvSpPr/>
          <p:nvPr/>
        </p:nvSpPr>
        <p:spPr>
          <a:xfrm>
            <a:off x="7681771" y="6129364"/>
            <a:ext cx="571500" cy="134541"/>
          </a:xfrm>
          <a:prstGeom prst="rect">
            <a:avLst/>
          </a:prstGeom>
          <a:noFill/>
          <a:ln/>
        </p:spPr>
        <p:txBody>
          <a:bodyPr wrap="none" lIns="0" tIns="0" rIns="0" bIns="0" rtlCol="0" anchor="t"/>
          <a:lstStyle/>
          <a:p>
            <a:pPr marL="0" indent="0" algn="l">
              <a:lnSpc>
                <a:spcPts val="1050"/>
              </a:lnSpc>
              <a:buNone/>
            </a:pPr>
            <a:endParaRPr lang="en-US" sz="1050" b="1" dirty="0"/>
          </a:p>
        </p:txBody>
      </p:sp>
      <p:sp>
        <p:nvSpPr>
          <p:cNvPr id="8" name="Text 5"/>
          <p:cNvSpPr/>
          <p:nvPr/>
        </p:nvSpPr>
        <p:spPr>
          <a:xfrm>
            <a:off x="471011" y="8876586"/>
            <a:ext cx="13688378" cy="430768"/>
          </a:xfrm>
          <a:prstGeom prst="rect">
            <a:avLst/>
          </a:prstGeom>
          <a:noFill/>
          <a:ln/>
        </p:spPr>
        <p:txBody>
          <a:bodyPr wrap="square" lIns="0" tIns="0" rIns="0" bIns="0" rtlCol="0" anchor="t"/>
          <a:lstStyle/>
          <a:p>
            <a:pPr marL="0" indent="0" algn="l">
              <a:lnSpc>
                <a:spcPts val="1650"/>
              </a:lnSpc>
              <a:buNone/>
            </a:pPr>
            <a:endParaRPr lang="en-US" sz="1050" dirty="0"/>
          </a:p>
        </p:txBody>
      </p:sp>
      <p:sp>
        <p:nvSpPr>
          <p:cNvPr id="9" name="Text 6"/>
          <p:cNvSpPr/>
          <p:nvPr/>
        </p:nvSpPr>
        <p:spPr>
          <a:xfrm>
            <a:off x="471011" y="9458682"/>
            <a:ext cx="13688378" cy="430768"/>
          </a:xfrm>
          <a:prstGeom prst="rect">
            <a:avLst/>
          </a:prstGeom>
          <a:noFill/>
          <a:ln/>
        </p:spPr>
        <p:txBody>
          <a:bodyPr wrap="square" lIns="0" tIns="0" rIns="0" bIns="0" rtlCol="0" anchor="t"/>
          <a:lstStyle/>
          <a:p>
            <a:pPr marL="0" indent="0" algn="l">
              <a:lnSpc>
                <a:spcPts val="1650"/>
              </a:lnSpc>
              <a:buNone/>
            </a:pPr>
            <a:endParaRPr lang="en-US" sz="1050" dirty="0"/>
          </a:p>
        </p:txBody>
      </p:sp>
      <p:sp>
        <p:nvSpPr>
          <p:cNvPr id="10" name="TextBox 9">
            <a:extLst>
              <a:ext uri="{FF2B5EF4-FFF2-40B4-BE49-F238E27FC236}">
                <a16:creationId xmlns:a16="http://schemas.microsoft.com/office/drawing/2014/main" id="{20DFB819-8F57-6FE1-796F-E14964FE1041}"/>
              </a:ext>
            </a:extLst>
          </p:cNvPr>
          <p:cNvSpPr txBox="1"/>
          <p:nvPr/>
        </p:nvSpPr>
        <p:spPr>
          <a:xfrm>
            <a:off x="780585" y="6835698"/>
            <a:ext cx="13571035" cy="1477328"/>
          </a:xfrm>
          <a:prstGeom prst="rect">
            <a:avLst/>
          </a:prstGeom>
          <a:noFill/>
        </p:spPr>
        <p:txBody>
          <a:bodyPr wrap="square" rtlCol="0">
            <a:spAutoFit/>
          </a:bodyPr>
          <a:lstStyle/>
          <a:p>
            <a:endParaRPr lang="en-US" sz="1800" dirty="0">
              <a:solidFill>
                <a:srgbClr val="403C4E"/>
              </a:solidFill>
              <a:latin typeface="Open Sans" pitchFamily="34" charset="0"/>
              <a:ea typeface="Open Sans" pitchFamily="34" charset="-122"/>
              <a:cs typeface="Open Sans" pitchFamily="34" charset="-120"/>
            </a:endParaRPr>
          </a:p>
          <a:p>
            <a:r>
              <a:rPr lang="en-US" sz="1800" dirty="0">
                <a:solidFill>
                  <a:srgbClr val="403C4E"/>
                </a:solidFill>
                <a:latin typeface="Open Sans" pitchFamily="34" charset="0"/>
                <a:ea typeface="Open Sans" pitchFamily="34" charset="-122"/>
                <a:cs typeface="Open Sans" pitchFamily="34" charset="-120"/>
              </a:rPr>
              <a:t>Random Forest and Logistic Regression also showed strong performance but with higher computational requirements. Gaussian Naive Bayes performed poorly, confirming it's not suitable for text classification tasks with sparse feature representation.</a:t>
            </a:r>
            <a:endParaRPr lang="en-US" sz="1800" dirty="0"/>
          </a:p>
          <a:p>
            <a:endParaRPr lang="en-US" dirty="0"/>
          </a:p>
        </p:txBody>
      </p:sp>
      <p:sp>
        <p:nvSpPr>
          <p:cNvPr id="11" name="Rectangle 10">
            <a:extLst>
              <a:ext uri="{FF2B5EF4-FFF2-40B4-BE49-F238E27FC236}">
                <a16:creationId xmlns:a16="http://schemas.microsoft.com/office/drawing/2014/main" id="{57FA1924-2ADB-ADD7-8360-F3CFF2BB6A7F}"/>
              </a:ext>
            </a:extLst>
          </p:cNvPr>
          <p:cNvSpPr/>
          <p:nvPr/>
        </p:nvSpPr>
        <p:spPr>
          <a:xfrm>
            <a:off x="12673361" y="7733513"/>
            <a:ext cx="1817649" cy="481862"/>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Picture 12" descr="A graph of different colored bars&#10;&#10;AI-generated content may be incorrect.">
            <a:extLst>
              <a:ext uri="{FF2B5EF4-FFF2-40B4-BE49-F238E27FC236}">
                <a16:creationId xmlns:a16="http://schemas.microsoft.com/office/drawing/2014/main" id="{AF70C7D3-B90A-5DE5-B7CB-369AA42C197A}"/>
              </a:ext>
            </a:extLst>
          </p:cNvPr>
          <p:cNvPicPr>
            <a:picLocks noChangeAspect="1"/>
          </p:cNvPicPr>
          <p:nvPr/>
        </p:nvPicPr>
        <p:blipFill>
          <a:blip r:embed="rId3"/>
          <a:stretch>
            <a:fillRect/>
          </a:stretch>
        </p:blipFill>
        <p:spPr>
          <a:xfrm>
            <a:off x="936702" y="866321"/>
            <a:ext cx="9567747" cy="6158947"/>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TotalTime>
  <Words>642</Words>
  <Application>Microsoft Office PowerPoint</Application>
  <PresentationFormat>Custom</PresentationFormat>
  <Paragraphs>66</Paragraphs>
  <Slides>8</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vt:i4>
      </vt:variant>
    </vt:vector>
  </HeadingPairs>
  <TitlesOfParts>
    <vt:vector size="14" baseType="lpstr">
      <vt:lpstr>Merriweather Bold</vt:lpstr>
      <vt:lpstr>Open Sans</vt:lpstr>
      <vt:lpstr>Open Sans Bold</vt:lpstr>
      <vt:lpstr>Open Sans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Aditya Agarwal</cp:lastModifiedBy>
  <cp:revision>2</cp:revision>
  <dcterms:created xsi:type="dcterms:W3CDTF">2025-04-22T21:34:42Z</dcterms:created>
  <dcterms:modified xsi:type="dcterms:W3CDTF">2025-04-22T21:50:31Z</dcterms:modified>
</cp:coreProperties>
</file>